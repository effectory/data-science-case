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134959733" r:id="rId5"/>
    <p:sldId id="294" r:id="rId6"/>
    <p:sldId id="468" r:id="rId7"/>
    <p:sldId id="2134959734" r:id="rId8"/>
  </p:sldIdLst>
  <p:sldSz cx="12192000" cy="6858000"/>
  <p:notesSz cx="6794500" cy="9906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ple slides" id="{8AEF017F-A45B-44C4-ABCF-2A37C83FF6AB}">
          <p14:sldIdLst>
            <p14:sldId id="2134959733"/>
            <p14:sldId id="294"/>
            <p14:sldId id="468"/>
            <p14:sldId id="2134959734"/>
          </p14:sldIdLst>
        </p14:section>
      </p14:sectionLst>
    </p:ext>
    <p:ext uri="{EFAFB233-063F-42B5-8137-9DF3F51BA10A}">
      <p15:sldGuideLst xmlns:p15="http://schemas.microsoft.com/office/powerpoint/2012/main">
        <p15:guide id="2" pos="3840" userDrawn="1">
          <p15:clr>
            <a:srgbClr val="A4A3A4"/>
          </p15:clr>
        </p15:guide>
        <p15:guide id="3" orient="horz" pos="213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095C44-F06A-F420-0957-B71F7C61DC5B}" name="Anne-Maartje Letschert  Effectory" initials="AE" userId="S::anne-maartje.letschert@effectory.com::aaa83c8c-f332-493d-b330-4f20915b3acc" providerId="AD"/>
  <p188:author id="{11DA1983-892A-8307-CD4F-8991E59381FA}" name="Lena Götting  Effectory" initials="LGE" userId="S::Lena.Gotting@effectory.com::0574d0fd-d141-4ca0-b40b-c54115ed16cd" providerId="AD"/>
  <p188:author id="{43B3A6A1-D6E9-2101-2548-E63BB824F89E}" name="Merel Wijnands  Effectory" initials="MWE" userId="S::Merel.Wijnands@effectory.com::c81e76e9-d290-4b38-b124-5a92e0771e23" providerId="AD"/>
  <p188:author id="{866CDDC7-951B-CF45-BE15-9EFA998A4ED6}" name="Barry Koeman  Effectory" initials="BE" userId="S::barry.koeman@effectory.com::08cc7e8b-86ee-4ae8-8d3d-3f74642b7efd" providerId="AD"/>
  <p188:author id="{5E338FF9-681A-7C16-E241-4707D7958C03}" name="Sabine Rosema  Effectory" initials="SRE" userId="S::Sabine.Rosema@effectory.com::ee6cb3e3-93ab-4545-a4b0-cb7f526d5d9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ns Helms  Effectory" initials="HHE" lastIdx="5" clrIdx="0">
    <p:extLst>
      <p:ext uri="{19B8F6BF-5375-455C-9EA6-DF929625EA0E}">
        <p15:presenceInfo xmlns:p15="http://schemas.microsoft.com/office/powerpoint/2012/main" userId="S-1-5-21-1292428093-1957994488-1060284298-382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DFA"/>
    <a:srgbClr val="192743"/>
    <a:srgbClr val="30B3AF"/>
    <a:srgbClr val="FFCF2E"/>
    <a:srgbClr val="EDEDED"/>
    <a:srgbClr val="065D66"/>
    <a:srgbClr val="B3DCD8"/>
    <a:srgbClr val="232221"/>
    <a:srgbClr val="252626"/>
    <a:srgbClr val="FCD0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guide pos="3840"/>
        <p:guide orient="horz" pos="21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 Helms  Effectory" userId="72323f33-c5a2-4fa6-949d-8699ce448bb4" providerId="ADAL" clId="{4606B8DC-6A63-456B-821A-7EE6ADAC0557}"/>
    <pc:docChg chg="undo custSel modSld">
      <pc:chgData name="Hans Helms  Effectory" userId="72323f33-c5a2-4fa6-949d-8699ce448bb4" providerId="ADAL" clId="{4606B8DC-6A63-456B-821A-7EE6ADAC0557}" dt="2022-12-07T17:04:46.638" v="610" actId="20577"/>
      <pc:docMkLst>
        <pc:docMk/>
      </pc:docMkLst>
      <pc:sldChg chg="modSp mod">
        <pc:chgData name="Hans Helms  Effectory" userId="72323f33-c5a2-4fa6-949d-8699ce448bb4" providerId="ADAL" clId="{4606B8DC-6A63-456B-821A-7EE6ADAC0557}" dt="2022-12-07T16:46:21.289" v="74" actId="20577"/>
        <pc:sldMkLst>
          <pc:docMk/>
          <pc:sldMk cId="454555904" sldId="294"/>
        </pc:sldMkLst>
        <pc:spChg chg="mod">
          <ac:chgData name="Hans Helms  Effectory" userId="72323f33-c5a2-4fa6-949d-8699ce448bb4" providerId="ADAL" clId="{4606B8DC-6A63-456B-821A-7EE6ADAC0557}" dt="2022-12-07T16:44:10.002" v="0" actId="20577"/>
          <ac:spMkLst>
            <pc:docMk/>
            <pc:sldMk cId="454555904" sldId="294"/>
            <ac:spMk id="3" creationId="{EA9B2987-8AA5-58EE-88B9-29E14C15B72E}"/>
          </ac:spMkLst>
        </pc:spChg>
        <pc:spChg chg="mod">
          <ac:chgData name="Hans Helms  Effectory" userId="72323f33-c5a2-4fa6-949d-8699ce448bb4" providerId="ADAL" clId="{4606B8DC-6A63-456B-821A-7EE6ADAC0557}" dt="2022-12-07T16:46:21.289" v="74" actId="20577"/>
          <ac:spMkLst>
            <pc:docMk/>
            <pc:sldMk cId="454555904" sldId="294"/>
            <ac:spMk id="5" creationId="{F8EFC8CC-23DE-3CA5-32A8-5D69B5F324F1}"/>
          </ac:spMkLst>
        </pc:spChg>
      </pc:sldChg>
      <pc:sldChg chg="modSp mod">
        <pc:chgData name="Hans Helms  Effectory" userId="72323f33-c5a2-4fa6-949d-8699ce448bb4" providerId="ADAL" clId="{4606B8DC-6A63-456B-821A-7EE6ADAC0557}" dt="2022-12-07T17:04:46.638" v="610" actId="20577"/>
        <pc:sldMkLst>
          <pc:docMk/>
          <pc:sldMk cId="3289281859" sldId="468"/>
        </pc:sldMkLst>
        <pc:spChg chg="mod">
          <ac:chgData name="Hans Helms  Effectory" userId="72323f33-c5a2-4fa6-949d-8699ce448bb4" providerId="ADAL" clId="{4606B8DC-6A63-456B-821A-7EE6ADAC0557}" dt="2022-12-07T17:04:46.638" v="610" actId="20577"/>
          <ac:spMkLst>
            <pc:docMk/>
            <pc:sldMk cId="3289281859" sldId="468"/>
            <ac:spMk id="5" creationId="{F8EFC8CC-23DE-3CA5-32A8-5D69B5F324F1}"/>
          </ac:spMkLst>
        </pc:spChg>
      </pc:sldChg>
    </pc:docChg>
  </pc:docChgLst>
  <pc:docChgLst>
    <pc:chgData name="Manuela Hristova  Effectory" userId="09bd02bd-8f4b-4dad-a535-c93535e856ff" providerId="ADAL" clId="{7F3D6BAE-9EB6-4DAA-8953-23A01AAC00D5}"/>
    <pc:docChg chg="custSel modSld">
      <pc:chgData name="Manuela Hristova  Effectory" userId="09bd02bd-8f4b-4dad-a535-c93535e856ff" providerId="ADAL" clId="{7F3D6BAE-9EB6-4DAA-8953-23A01AAC00D5}" dt="2022-12-07T17:12:28.211" v="144" actId="20577"/>
      <pc:docMkLst>
        <pc:docMk/>
      </pc:docMkLst>
      <pc:sldChg chg="modSp mod">
        <pc:chgData name="Manuela Hristova  Effectory" userId="09bd02bd-8f4b-4dad-a535-c93535e856ff" providerId="ADAL" clId="{7F3D6BAE-9EB6-4DAA-8953-23A01AAC00D5}" dt="2022-12-07T17:12:28.211" v="144" actId="20577"/>
        <pc:sldMkLst>
          <pc:docMk/>
          <pc:sldMk cId="454555904" sldId="294"/>
        </pc:sldMkLst>
        <pc:spChg chg="mod">
          <ac:chgData name="Manuela Hristova  Effectory" userId="09bd02bd-8f4b-4dad-a535-c93535e856ff" providerId="ADAL" clId="{7F3D6BAE-9EB6-4DAA-8953-23A01AAC00D5}" dt="2022-12-07T17:12:28.211" v="144" actId="20577"/>
          <ac:spMkLst>
            <pc:docMk/>
            <pc:sldMk cId="454555904" sldId="294"/>
            <ac:spMk id="6" creationId="{A7F0E912-F3BB-B213-4C5C-A308B5C0C0BE}"/>
          </ac:spMkLst>
        </pc:spChg>
      </pc:sldChg>
      <pc:sldChg chg="modSp mod">
        <pc:chgData name="Manuela Hristova  Effectory" userId="09bd02bd-8f4b-4dad-a535-c93535e856ff" providerId="ADAL" clId="{7F3D6BAE-9EB6-4DAA-8953-23A01AAC00D5}" dt="2022-12-07T17:08:06.071" v="61" actId="20577"/>
        <pc:sldMkLst>
          <pc:docMk/>
          <pc:sldMk cId="3289281859" sldId="468"/>
        </pc:sldMkLst>
        <pc:spChg chg="mod">
          <ac:chgData name="Manuela Hristova  Effectory" userId="09bd02bd-8f4b-4dad-a535-c93535e856ff" providerId="ADAL" clId="{7F3D6BAE-9EB6-4DAA-8953-23A01AAC00D5}" dt="2022-12-07T17:08:06.071" v="61" actId="20577"/>
          <ac:spMkLst>
            <pc:docMk/>
            <pc:sldMk cId="3289281859" sldId="468"/>
            <ac:spMk id="5" creationId="{F8EFC8CC-23DE-3CA5-32A8-5D69B5F324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7020"/>
          </a:xfrm>
          <a:prstGeom prst="rect">
            <a:avLst/>
          </a:prstGeom>
        </p:spPr>
        <p:txBody>
          <a:bodyPr vert="horz" lIns="91440" tIns="45720" rIns="91440" bIns="45720" rtlCol="0"/>
          <a:lstStyle>
            <a:lvl1pPr algn="l">
              <a:defRPr sz="1200">
                <a:latin typeface="Century Gothic" panose="020B0502020202020204" pitchFamily="34" charset="0"/>
              </a:defRPr>
            </a:lvl1pPr>
          </a:lstStyle>
          <a:p>
            <a:endParaRPr lang="nl-NL"/>
          </a:p>
        </p:txBody>
      </p:sp>
      <p:sp>
        <p:nvSpPr>
          <p:cNvPr id="3" name="Date Placeholder 2"/>
          <p:cNvSpPr>
            <a:spLocks noGrp="1"/>
          </p:cNvSpPr>
          <p:nvPr>
            <p:ph type="dt" idx="1"/>
          </p:nvPr>
        </p:nvSpPr>
        <p:spPr>
          <a:xfrm>
            <a:off x="3848645" y="0"/>
            <a:ext cx="2944283" cy="497020"/>
          </a:xfrm>
          <a:prstGeom prst="rect">
            <a:avLst/>
          </a:prstGeom>
        </p:spPr>
        <p:txBody>
          <a:bodyPr vert="horz" lIns="91440" tIns="45720" rIns="91440" bIns="45720" rtlCol="0"/>
          <a:lstStyle>
            <a:lvl1pPr algn="r">
              <a:defRPr sz="1200">
                <a:latin typeface="Century Gothic" panose="020B0502020202020204" pitchFamily="34" charset="0"/>
              </a:defRPr>
            </a:lvl1pPr>
          </a:lstStyle>
          <a:p>
            <a:fld id="{1199CC36-1F22-4B1F-8226-858F83A27352}" type="datetimeFigureOut">
              <a:rPr lang="nl-NL" smtClean="0"/>
              <a:pPr/>
              <a:t>19-11-2025</a:t>
            </a:fld>
            <a:endParaRPr lang="nl-NL"/>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9450" y="4767262"/>
            <a:ext cx="5435600" cy="39004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408981"/>
            <a:ext cx="2944283" cy="497019"/>
          </a:xfrm>
          <a:prstGeom prst="rect">
            <a:avLst/>
          </a:prstGeom>
        </p:spPr>
        <p:txBody>
          <a:bodyPr vert="horz" lIns="91440" tIns="45720" rIns="91440" bIns="45720" rtlCol="0" anchor="b"/>
          <a:lstStyle>
            <a:lvl1pPr algn="l">
              <a:defRPr sz="1200">
                <a:latin typeface="Century Gothic" panose="020B0502020202020204" pitchFamily="34" charset="0"/>
              </a:defRPr>
            </a:lvl1pPr>
          </a:lstStyle>
          <a:p>
            <a:endParaRPr lang="nl-NL"/>
          </a:p>
        </p:txBody>
      </p:sp>
      <p:sp>
        <p:nvSpPr>
          <p:cNvPr id="7" name="Slide Number Placeholder 6"/>
          <p:cNvSpPr>
            <a:spLocks noGrp="1"/>
          </p:cNvSpPr>
          <p:nvPr>
            <p:ph type="sldNum" sz="quarter" idx="5"/>
          </p:nvPr>
        </p:nvSpPr>
        <p:spPr>
          <a:xfrm>
            <a:off x="3848645" y="9408981"/>
            <a:ext cx="2944283" cy="497019"/>
          </a:xfrm>
          <a:prstGeom prst="rect">
            <a:avLst/>
          </a:prstGeom>
        </p:spPr>
        <p:txBody>
          <a:bodyPr vert="horz" lIns="91440" tIns="45720" rIns="91440" bIns="45720" rtlCol="0" anchor="b"/>
          <a:lstStyle>
            <a:lvl1pPr algn="r">
              <a:defRPr sz="1200">
                <a:latin typeface="Century Gothic" panose="020B0502020202020204" pitchFamily="34" charset="0"/>
              </a:defRPr>
            </a:lvl1pPr>
          </a:lstStyle>
          <a:p>
            <a:fld id="{6A629805-FA67-4C6B-8F5F-800D3AAA30C9}" type="slidenum">
              <a:rPr lang="nl-NL" smtClean="0"/>
              <a:pPr/>
              <a:t>‹#›</a:t>
            </a:fld>
            <a:endParaRPr lang="nl-NL"/>
          </a:p>
        </p:txBody>
      </p:sp>
    </p:spTree>
    <p:extLst>
      <p:ext uri="{BB962C8B-B14F-4D97-AF65-F5344CB8AC3E}">
        <p14:creationId xmlns:p14="http://schemas.microsoft.com/office/powerpoint/2010/main" val="2571873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entury Gothic" panose="020B0502020202020204" pitchFamily="34" charset="0"/>
        <a:ea typeface="+mn-ea"/>
        <a:cs typeface="+mn-cs"/>
      </a:defRPr>
    </a:lvl1pPr>
    <a:lvl2pPr marL="457200" algn="l" defTabSz="914400" rtl="0" eaLnBrk="1" latinLnBrk="0" hangingPunct="1">
      <a:defRPr sz="1200" kern="1200">
        <a:solidFill>
          <a:schemeClr val="tx1"/>
        </a:solidFill>
        <a:latin typeface="Century Gothic" panose="020B0502020202020204" pitchFamily="34" charset="0"/>
        <a:ea typeface="+mn-ea"/>
        <a:cs typeface="+mn-cs"/>
      </a:defRPr>
    </a:lvl2pPr>
    <a:lvl3pPr marL="914400" algn="l" defTabSz="914400" rtl="0" eaLnBrk="1" latinLnBrk="0" hangingPunct="1">
      <a:defRPr sz="1200" kern="1200">
        <a:solidFill>
          <a:schemeClr val="tx1"/>
        </a:solidFill>
        <a:latin typeface="Century Gothic" panose="020B0502020202020204" pitchFamily="34" charset="0"/>
        <a:ea typeface="+mn-ea"/>
        <a:cs typeface="+mn-cs"/>
      </a:defRPr>
    </a:lvl3pPr>
    <a:lvl4pPr marL="1371600" algn="l" defTabSz="914400" rtl="0" eaLnBrk="1" latinLnBrk="0" hangingPunct="1">
      <a:defRPr sz="1200" kern="1200">
        <a:solidFill>
          <a:schemeClr val="tx1"/>
        </a:solidFill>
        <a:latin typeface="Century Gothic" panose="020B0502020202020204" pitchFamily="34" charset="0"/>
        <a:ea typeface="+mn-ea"/>
        <a:cs typeface="+mn-cs"/>
      </a:defRPr>
    </a:lvl4pPr>
    <a:lvl5pPr marL="1828800" algn="l" defTabSz="914400" rtl="0" eaLnBrk="1" latinLnBrk="0" hangingPunct="1">
      <a:defRPr sz="1200" kern="1200">
        <a:solidFill>
          <a:schemeClr val="tx1"/>
        </a:solidFill>
        <a:latin typeface="Century Gothic" panose="020B0502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AU" noProof="0" dirty="0"/>
              <a:t>That’s it for today! Thank you joining. </a:t>
            </a:r>
          </a:p>
          <a:p>
            <a:endParaRPr lang="nl-NL"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29805-FA67-4C6B-8F5F-800D3AAA30C9}" type="slidenum">
              <a:rPr kumimoji="0" lang="nl-NL" sz="1200" b="0"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nl-NL" sz="12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4513296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c_Logo_Left">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6F7B509-28AA-4C64-BB65-DE0790F4C67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8259" y="440663"/>
            <a:ext cx="207066" cy="288000"/>
          </a:xfrm>
          <a:prstGeom prst="rect">
            <a:avLst/>
          </a:prstGeom>
        </p:spPr>
      </p:pic>
    </p:spTree>
    <p:extLst>
      <p:ext uri="{BB962C8B-B14F-4D97-AF65-F5344CB8AC3E}">
        <p14:creationId xmlns:p14="http://schemas.microsoft.com/office/powerpoint/2010/main" val="1738744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urquoise background_logo_right">
    <p:bg>
      <p:bgPr>
        <a:solidFill>
          <a:srgbClr val="30B3A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40663"/>
            <a:ext cx="206576" cy="288000"/>
          </a:xfrm>
          <a:prstGeom prst="rect">
            <a:avLst/>
          </a:prstGeom>
        </p:spPr>
      </p:pic>
    </p:spTree>
    <p:extLst>
      <p:ext uri="{BB962C8B-B14F-4D97-AF65-F5344CB8AC3E}">
        <p14:creationId xmlns:p14="http://schemas.microsoft.com/office/powerpoint/2010/main" val="199219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urquoise background_logo_left">
    <p:bg>
      <p:bgPr>
        <a:solidFill>
          <a:srgbClr val="30B3A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749" y="440663"/>
            <a:ext cx="206576" cy="288000"/>
          </a:xfrm>
          <a:prstGeom prst="rect">
            <a:avLst/>
          </a:prstGeom>
        </p:spPr>
      </p:pic>
    </p:spTree>
    <p:extLst>
      <p:ext uri="{BB962C8B-B14F-4D97-AF65-F5344CB8AC3E}">
        <p14:creationId xmlns:p14="http://schemas.microsoft.com/office/powerpoint/2010/main" val="1335805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ellow background _logo_right">
    <p:bg>
      <p:bgPr>
        <a:solidFill>
          <a:srgbClr val="FFCF2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B511B-4514-4680-80D8-C2E72C3497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40663"/>
            <a:ext cx="206576" cy="288000"/>
          </a:xfrm>
          <a:prstGeom prst="rect">
            <a:avLst/>
          </a:prstGeom>
        </p:spPr>
      </p:pic>
    </p:spTree>
    <p:extLst>
      <p:ext uri="{BB962C8B-B14F-4D97-AF65-F5344CB8AC3E}">
        <p14:creationId xmlns:p14="http://schemas.microsoft.com/office/powerpoint/2010/main" val="2344754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Yellow background _logo_left">
    <p:bg>
      <p:bgPr>
        <a:solidFill>
          <a:srgbClr val="FFCF2E"/>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9FC57D-A3DC-407A-90BC-A4BCB90EEA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749" y="440663"/>
            <a:ext cx="206576" cy="288000"/>
          </a:xfrm>
          <a:prstGeom prst="rect">
            <a:avLst/>
          </a:prstGeom>
        </p:spPr>
      </p:pic>
    </p:spTree>
    <p:extLst>
      <p:ext uri="{BB962C8B-B14F-4D97-AF65-F5344CB8AC3E}">
        <p14:creationId xmlns:p14="http://schemas.microsoft.com/office/powerpoint/2010/main" val="599679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Yellow background _no logo">
    <p:bg>
      <p:bgPr>
        <a:solidFill>
          <a:srgbClr val="FFCF2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75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urquoise background _no logo">
    <p:bg>
      <p:bgPr>
        <a:solidFill>
          <a:srgbClr val="30B3A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186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illing_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E70A9C7-B0C5-49A1-AEB8-91801ABCBD50}"/>
              </a:ext>
            </a:extLst>
          </p:cNvPr>
          <p:cNvSpPr>
            <a:spLocks noGrp="1"/>
          </p:cNvSpPr>
          <p:nvPr>
            <p:ph type="pic" sz="quarter" idx="10"/>
          </p:nvPr>
        </p:nvSpPr>
        <p:spPr>
          <a:xfrm>
            <a:off x="0" y="0"/>
            <a:ext cx="12192000" cy="6858000"/>
          </a:xfrm>
        </p:spPr>
        <p:txBody>
          <a:bodyPr/>
          <a:lstStyle/>
          <a:p>
            <a:r>
              <a:rPr lang="en-US"/>
              <a:t>Click icon to add picture</a:t>
            </a:r>
            <a:endParaRPr lang="nl-NL"/>
          </a:p>
        </p:txBody>
      </p:sp>
    </p:spTree>
    <p:extLst>
      <p:ext uri="{BB962C8B-B14F-4D97-AF65-F5344CB8AC3E}">
        <p14:creationId xmlns:p14="http://schemas.microsoft.com/office/powerpoint/2010/main" val="19220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2773C5C5-D292-4D9E-AC04-BAE6C00506C0}"/>
              </a:ext>
            </a:extLst>
          </p:cNvPr>
          <p:cNvSpPr>
            <a:spLocks noGrp="1"/>
          </p:cNvSpPr>
          <p:nvPr>
            <p:ph type="pic" sz="quarter" idx="10"/>
          </p:nvPr>
        </p:nvSpPr>
        <p:spPr>
          <a:xfrm>
            <a:off x="6522720" y="734331"/>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
        <p:nvSpPr>
          <p:cNvPr id="11" name="Picture Placeholder 10">
            <a:extLst>
              <a:ext uri="{FF2B5EF4-FFF2-40B4-BE49-F238E27FC236}">
                <a16:creationId xmlns:a16="http://schemas.microsoft.com/office/drawing/2014/main" id="{001A77D0-6BA8-43B3-A71B-85D425A09DF0}"/>
              </a:ext>
            </a:extLst>
          </p:cNvPr>
          <p:cNvSpPr>
            <a:spLocks noGrp="1"/>
          </p:cNvSpPr>
          <p:nvPr>
            <p:ph type="pic" sz="quarter" idx="11"/>
          </p:nvPr>
        </p:nvSpPr>
        <p:spPr>
          <a:xfrm>
            <a:off x="6522719" y="3695655"/>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4234792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go_large_blu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0E708D-D4EF-45EC-BC3B-64BA4E7B523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33834" y="-436760"/>
            <a:ext cx="4716331" cy="6566098"/>
          </a:xfrm>
          <a:prstGeom prst="rect">
            <a:avLst/>
          </a:prstGeom>
        </p:spPr>
      </p:pic>
    </p:spTree>
    <p:extLst>
      <p:ext uri="{BB962C8B-B14F-4D97-AF65-F5344CB8AC3E}">
        <p14:creationId xmlns:p14="http://schemas.microsoft.com/office/powerpoint/2010/main" val="2141803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Logo_lar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B11E52-1BDC-4004-9EB1-4C896BB2CD2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33834" y="-436760"/>
            <a:ext cx="4716331" cy="6566098"/>
          </a:xfrm>
          <a:prstGeom prst="rect">
            <a:avLst/>
          </a:prstGeom>
        </p:spPr>
      </p:pic>
    </p:spTree>
    <p:extLst>
      <p:ext uri="{BB962C8B-B14F-4D97-AF65-F5344CB8AC3E}">
        <p14:creationId xmlns:p14="http://schemas.microsoft.com/office/powerpoint/2010/main" val="730279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2773C5C5-D292-4D9E-AC04-BAE6C00506C0}"/>
              </a:ext>
            </a:extLst>
          </p:cNvPr>
          <p:cNvSpPr>
            <a:spLocks noGrp="1"/>
          </p:cNvSpPr>
          <p:nvPr>
            <p:ph type="pic" sz="quarter" idx="10"/>
          </p:nvPr>
        </p:nvSpPr>
        <p:spPr>
          <a:xfrm>
            <a:off x="6522720" y="2212158"/>
            <a:ext cx="4973955" cy="2433683"/>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pic>
        <p:nvPicPr>
          <p:cNvPr id="3" name="Graphic 2">
            <a:extLst>
              <a:ext uri="{FF2B5EF4-FFF2-40B4-BE49-F238E27FC236}">
                <a16:creationId xmlns:a16="http://schemas.microsoft.com/office/drawing/2014/main" id="{49142BC2-BD5E-4504-B1DB-C4E80F51A9D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96675" y="440663"/>
            <a:ext cx="207066" cy="288000"/>
          </a:xfrm>
          <a:prstGeom prst="rect">
            <a:avLst/>
          </a:prstGeom>
        </p:spPr>
      </p:pic>
    </p:spTree>
    <p:extLst>
      <p:ext uri="{BB962C8B-B14F-4D97-AF65-F5344CB8AC3E}">
        <p14:creationId xmlns:p14="http://schemas.microsoft.com/office/powerpoint/2010/main" val="4115903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lf picture_Right">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6096000" y="0"/>
            <a:ext cx="6096000" cy="6858000"/>
          </a:xfrm>
          <a:custGeom>
            <a:avLst/>
            <a:gdLst>
              <a:gd name="connsiteX0" fmla="*/ 0 w 2564091"/>
              <a:gd name="connsiteY0" fmla="*/ 0 h 6858000"/>
              <a:gd name="connsiteX1" fmla="*/ 2564091 w 2564091"/>
              <a:gd name="connsiteY1" fmla="*/ 0 h 6858000"/>
              <a:gd name="connsiteX2" fmla="*/ 2564091 w 2564091"/>
              <a:gd name="connsiteY2" fmla="*/ 6858000 h 6858000"/>
              <a:gd name="connsiteX3" fmla="*/ 0 w 25640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564091" h="6858000">
                <a:moveTo>
                  <a:pt x="0" y="0"/>
                </a:moveTo>
                <a:lnTo>
                  <a:pt x="2564091" y="0"/>
                </a:lnTo>
                <a:lnTo>
                  <a:pt x="2564091" y="6858000"/>
                </a:lnTo>
                <a:lnTo>
                  <a:pt x="0" y="685800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138503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047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EDBA90-27D3-44FC-A974-804C4F719F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71303" y="1299861"/>
            <a:ext cx="2179780" cy="4258277"/>
          </a:xfrm>
          <a:prstGeom prst="rect">
            <a:avLst/>
          </a:prstGeom>
        </p:spPr>
      </p:pic>
      <p:pic>
        <p:nvPicPr>
          <p:cNvPr id="4" name="Picture 3">
            <a:extLst>
              <a:ext uri="{FF2B5EF4-FFF2-40B4-BE49-F238E27FC236}">
                <a16:creationId xmlns:a16="http://schemas.microsoft.com/office/drawing/2014/main" id="{D60D9B80-28A7-43E6-B4AE-D2C32EDD2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17273" y="1299861"/>
            <a:ext cx="2179780" cy="4258277"/>
          </a:xfrm>
          <a:prstGeom prst="rect">
            <a:avLst/>
          </a:prstGeom>
        </p:spPr>
      </p:pic>
      <p:pic>
        <p:nvPicPr>
          <p:cNvPr id="5" name="Picture 4">
            <a:extLst>
              <a:ext uri="{FF2B5EF4-FFF2-40B4-BE49-F238E27FC236}">
                <a16:creationId xmlns:a16="http://schemas.microsoft.com/office/drawing/2014/main" id="{802B4DB3-0FD4-4697-B887-22234B74D5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40927" y="1299861"/>
            <a:ext cx="2179780" cy="4258277"/>
          </a:xfrm>
          <a:prstGeom prst="rect">
            <a:avLst/>
          </a:prstGeom>
        </p:spPr>
      </p:pic>
      <p:sp>
        <p:nvSpPr>
          <p:cNvPr id="6" name="Picture Placeholder 2">
            <a:extLst>
              <a:ext uri="{FF2B5EF4-FFF2-40B4-BE49-F238E27FC236}">
                <a16:creationId xmlns:a16="http://schemas.microsoft.com/office/drawing/2014/main" id="{69BF521E-C327-4E54-9C17-DA3D0E015AB8}"/>
              </a:ext>
            </a:extLst>
          </p:cNvPr>
          <p:cNvSpPr>
            <a:spLocks noGrp="1"/>
          </p:cNvSpPr>
          <p:nvPr>
            <p:ph type="pic" sz="quarter" idx="11" hasCustomPrompt="1"/>
          </p:nvPr>
        </p:nvSpPr>
        <p:spPr>
          <a:xfrm>
            <a:off x="5624938" y="1954530"/>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7" name="Picture Placeholder 2">
            <a:extLst>
              <a:ext uri="{FF2B5EF4-FFF2-40B4-BE49-F238E27FC236}">
                <a16:creationId xmlns:a16="http://schemas.microsoft.com/office/drawing/2014/main" id="{F2233FAE-D380-41C6-B1B4-19A512DFA116}"/>
              </a:ext>
            </a:extLst>
          </p:cNvPr>
          <p:cNvSpPr>
            <a:spLocks noGrp="1"/>
          </p:cNvSpPr>
          <p:nvPr>
            <p:ph type="pic" sz="quarter" idx="12" hasCustomPrompt="1"/>
          </p:nvPr>
        </p:nvSpPr>
        <p:spPr>
          <a:xfrm>
            <a:off x="7677935" y="1954529"/>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8" name="Picture Placeholder 2">
            <a:extLst>
              <a:ext uri="{FF2B5EF4-FFF2-40B4-BE49-F238E27FC236}">
                <a16:creationId xmlns:a16="http://schemas.microsoft.com/office/drawing/2014/main" id="{267AC20A-5F39-4ECA-8625-D9CE7A1E2A38}"/>
              </a:ext>
            </a:extLst>
          </p:cNvPr>
          <p:cNvSpPr>
            <a:spLocks noGrp="1"/>
          </p:cNvSpPr>
          <p:nvPr>
            <p:ph type="pic" sz="quarter" idx="13" hasCustomPrompt="1"/>
          </p:nvPr>
        </p:nvSpPr>
        <p:spPr>
          <a:xfrm>
            <a:off x="9704206" y="1955073"/>
            <a:ext cx="1659300" cy="2948940"/>
          </a:xfrm>
          <a:prstGeom prst="rect">
            <a:avLst/>
          </a:prstGeom>
          <a:noFill/>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2610458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96FB0-2DD1-4E26-A5FB-C39C25C30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3662" y="1343819"/>
            <a:ext cx="3349525" cy="4650581"/>
          </a:xfrm>
          <a:prstGeom prst="rect">
            <a:avLst/>
          </a:prstGeom>
          <a:effectLst/>
        </p:spPr>
      </p:pic>
      <p:sp>
        <p:nvSpPr>
          <p:cNvPr id="6" name="Picture Placeholder 2">
            <a:extLst>
              <a:ext uri="{FF2B5EF4-FFF2-40B4-BE49-F238E27FC236}">
                <a16:creationId xmlns:a16="http://schemas.microsoft.com/office/drawing/2014/main" id="{68D4945C-50C4-46BF-A770-3F909F0B1A9B}"/>
              </a:ext>
            </a:extLst>
          </p:cNvPr>
          <p:cNvSpPr>
            <a:spLocks noGrp="1"/>
          </p:cNvSpPr>
          <p:nvPr>
            <p:ph type="pic" sz="quarter" idx="15" hasCustomPrompt="1"/>
          </p:nvPr>
        </p:nvSpPr>
        <p:spPr>
          <a:xfrm>
            <a:off x="922432" y="1893755"/>
            <a:ext cx="2651984" cy="3548196"/>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pic>
        <p:nvPicPr>
          <p:cNvPr id="4" name="Picture 3">
            <a:extLst>
              <a:ext uri="{FF2B5EF4-FFF2-40B4-BE49-F238E27FC236}">
                <a16:creationId xmlns:a16="http://schemas.microsoft.com/office/drawing/2014/main" id="{0C9CE646-B9E9-4E94-AA06-B8C315C204B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57397" y="2033695"/>
            <a:ext cx="1905358" cy="3884505"/>
          </a:xfrm>
          <a:prstGeom prst="rect">
            <a:avLst/>
          </a:prstGeom>
        </p:spPr>
      </p:pic>
      <p:sp>
        <p:nvSpPr>
          <p:cNvPr id="7" name="Picture Placeholder 2">
            <a:extLst>
              <a:ext uri="{FF2B5EF4-FFF2-40B4-BE49-F238E27FC236}">
                <a16:creationId xmlns:a16="http://schemas.microsoft.com/office/drawing/2014/main" id="{8FA79431-BBFA-4D41-B1D9-32FAA01C2653}"/>
              </a:ext>
            </a:extLst>
          </p:cNvPr>
          <p:cNvSpPr>
            <a:spLocks noGrp="1"/>
          </p:cNvSpPr>
          <p:nvPr>
            <p:ph type="pic" sz="quarter" idx="10" hasCustomPrompt="1"/>
          </p:nvPr>
        </p:nvSpPr>
        <p:spPr>
          <a:xfrm>
            <a:off x="3988977" y="2528842"/>
            <a:ext cx="1645854" cy="2913257"/>
          </a:xfrm>
          <a:prstGeom prst="rect">
            <a:avLst/>
          </a:prstGeom>
          <a:noFill/>
        </p:spPr>
        <p:txBody>
          <a:bodyPr anchor="ctr"/>
          <a:lstStyle>
            <a:lvl1pPr algn="ctr">
              <a:defRPr sz="1600" b="0" i="0">
                <a:latin typeface="Titillium" charset="0"/>
                <a:ea typeface="Titillium" charset="0"/>
                <a:cs typeface="Titillium" charset="0"/>
              </a:defRPr>
            </a:lvl1pPr>
          </a:lstStyle>
          <a:p>
            <a:r>
              <a:rPr lang="en-US"/>
              <a:t>Insert Image</a:t>
            </a:r>
          </a:p>
        </p:txBody>
      </p:sp>
    </p:spTree>
    <p:extLst>
      <p:ext uri="{BB962C8B-B14F-4D97-AF65-F5344CB8AC3E}">
        <p14:creationId xmlns:p14="http://schemas.microsoft.com/office/powerpoint/2010/main" val="1803338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E96FB0-2DD1-4E26-A5FB-C39C25C30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12291" y="835819"/>
            <a:ext cx="3735415" cy="5186362"/>
          </a:xfrm>
          <a:prstGeom prst="rect">
            <a:avLst/>
          </a:prstGeom>
          <a:effectLst/>
        </p:spPr>
      </p:pic>
      <p:sp>
        <p:nvSpPr>
          <p:cNvPr id="6" name="Picture Placeholder 2">
            <a:extLst>
              <a:ext uri="{FF2B5EF4-FFF2-40B4-BE49-F238E27FC236}">
                <a16:creationId xmlns:a16="http://schemas.microsoft.com/office/drawing/2014/main" id="{68D4945C-50C4-46BF-A770-3F909F0B1A9B}"/>
              </a:ext>
            </a:extLst>
          </p:cNvPr>
          <p:cNvSpPr>
            <a:spLocks noGrp="1"/>
          </p:cNvSpPr>
          <p:nvPr>
            <p:ph type="pic" sz="quarter" idx="15" hasCustomPrompt="1"/>
          </p:nvPr>
        </p:nvSpPr>
        <p:spPr>
          <a:xfrm>
            <a:off x="7996238" y="1446235"/>
            <a:ext cx="2957512" cy="3965530"/>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1748541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16BB1-65B3-4E39-9D6D-1084F5543B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38007" y="1043735"/>
            <a:ext cx="8125020" cy="4770530"/>
          </a:xfrm>
          <a:prstGeom prst="rect">
            <a:avLst/>
          </a:prstGeom>
          <a:effectLst/>
        </p:spPr>
      </p:pic>
      <p:sp>
        <p:nvSpPr>
          <p:cNvPr id="4" name="Picture Placeholder 2">
            <a:extLst>
              <a:ext uri="{FF2B5EF4-FFF2-40B4-BE49-F238E27FC236}">
                <a16:creationId xmlns:a16="http://schemas.microsoft.com/office/drawing/2014/main" id="{FC2B9FDF-1B12-46C3-A193-CF92C3F35758}"/>
              </a:ext>
            </a:extLst>
          </p:cNvPr>
          <p:cNvSpPr>
            <a:spLocks noGrp="1"/>
          </p:cNvSpPr>
          <p:nvPr>
            <p:ph type="pic" sz="quarter" idx="12" hasCustomPrompt="1"/>
          </p:nvPr>
        </p:nvSpPr>
        <p:spPr>
          <a:xfrm>
            <a:off x="6936128" y="1384300"/>
            <a:ext cx="6068672" cy="3822700"/>
          </a:xfrm>
          <a:prstGeom prst="rect">
            <a:avLst/>
          </a:prstGeom>
          <a:no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extLst>
      <p:ext uri="{BB962C8B-B14F-4D97-AF65-F5344CB8AC3E}">
        <p14:creationId xmlns:p14="http://schemas.microsoft.com/office/powerpoint/2010/main" val="37940976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ffectory Logo_1">
    <p:bg>
      <p:bgPr>
        <a:solidFill>
          <a:srgbClr val="FFCF2E"/>
        </a:solidFill>
        <a:effectLst/>
      </p:bgPr>
    </p:bg>
    <p:spTree>
      <p:nvGrpSpPr>
        <p:cNvPr id="1" name=""/>
        <p:cNvGrpSpPr/>
        <p:nvPr/>
      </p:nvGrpSpPr>
      <p:grpSpPr>
        <a:xfrm>
          <a:off x="0" y="0"/>
          <a:ext cx="0" cy="0"/>
          <a:chOff x="0" y="0"/>
          <a:chExt cx="0" cy="0"/>
        </a:xfrm>
      </p:grpSpPr>
      <p:pic>
        <p:nvPicPr>
          <p:cNvPr id="7" name="Afbeelding 25" descr="Effectory_Logo_Icon.png">
            <a:extLst>
              <a:ext uri="{FF2B5EF4-FFF2-40B4-BE49-F238E27FC236}">
                <a16:creationId xmlns:a16="http://schemas.microsoft.com/office/drawing/2014/main" id="{9E4D6AE7-73F3-445A-9D98-BE0E77BAD51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39341"/>
            <a:ext cx="208069" cy="289322"/>
          </a:xfrm>
          <a:prstGeom prst="rect">
            <a:avLst/>
          </a:prstGeom>
        </p:spPr>
      </p:pic>
      <p:sp>
        <p:nvSpPr>
          <p:cNvPr id="8" name="Tekstvak 6">
            <a:extLst>
              <a:ext uri="{FF2B5EF4-FFF2-40B4-BE49-F238E27FC236}">
                <a16:creationId xmlns:a16="http://schemas.microsoft.com/office/drawing/2014/main" id="{2E1E6A03-FDDB-47DF-BB61-1B3EF91A56B6}"/>
              </a:ext>
            </a:extLst>
          </p:cNvPr>
          <p:cNvSpPr txBox="1"/>
          <p:nvPr userDrawn="1"/>
        </p:nvSpPr>
        <p:spPr>
          <a:xfrm>
            <a:off x="5415451" y="3338439"/>
            <a:ext cx="5215468" cy="461665"/>
          </a:xfrm>
          <a:prstGeom prst="rect">
            <a:avLst/>
          </a:prstGeom>
          <a:noFill/>
        </p:spPr>
        <p:txBody>
          <a:bodyPr wrap="square" rtlCol="0">
            <a:spAutoFit/>
          </a:bodyPr>
          <a:lstStyle/>
          <a:p>
            <a:pPr defTabSz="609585"/>
            <a:r>
              <a:rPr lang="nl-NL" sz="2400" b="1" spc="-67" err="1">
                <a:solidFill>
                  <a:srgbClr val="192743"/>
                </a:solidFill>
                <a:latin typeface="Century Gothic"/>
                <a:cs typeface="Century Gothic"/>
              </a:rPr>
              <a:t>Leading</a:t>
            </a:r>
            <a:r>
              <a:rPr lang="nl-NL" sz="2400" b="1" spc="-67">
                <a:solidFill>
                  <a:srgbClr val="192743"/>
                </a:solidFill>
                <a:latin typeface="Century Gothic"/>
                <a:cs typeface="Century Gothic"/>
              </a:rPr>
              <a:t> in employee feedback</a:t>
            </a:r>
          </a:p>
        </p:txBody>
      </p:sp>
      <p:pic>
        <p:nvPicPr>
          <p:cNvPr id="9" name="Afbeelding 8" descr="Effectory_Logo_horizontal.png">
            <a:extLst>
              <a:ext uri="{FF2B5EF4-FFF2-40B4-BE49-F238E27FC236}">
                <a16:creationId xmlns:a16="http://schemas.microsoft.com/office/drawing/2014/main" id="{33D9CF47-53EB-414F-9706-0C09F83250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92940" y="3154843"/>
            <a:ext cx="3337904" cy="697144"/>
          </a:xfrm>
          <a:prstGeom prst="rect">
            <a:avLst/>
          </a:prstGeom>
        </p:spPr>
      </p:pic>
    </p:spTree>
    <p:extLst>
      <p:ext uri="{BB962C8B-B14F-4D97-AF65-F5344CB8AC3E}">
        <p14:creationId xmlns:p14="http://schemas.microsoft.com/office/powerpoint/2010/main" val="566976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ffectory Logo_2">
    <p:bg>
      <p:bgPr>
        <a:solidFill>
          <a:srgbClr val="30B3AF"/>
        </a:solidFill>
        <a:effectLst/>
      </p:bgPr>
    </p:bg>
    <p:spTree>
      <p:nvGrpSpPr>
        <p:cNvPr id="1" name=""/>
        <p:cNvGrpSpPr/>
        <p:nvPr/>
      </p:nvGrpSpPr>
      <p:grpSpPr>
        <a:xfrm>
          <a:off x="0" y="0"/>
          <a:ext cx="0" cy="0"/>
          <a:chOff x="0" y="0"/>
          <a:chExt cx="0" cy="0"/>
        </a:xfrm>
      </p:grpSpPr>
      <p:pic>
        <p:nvPicPr>
          <p:cNvPr id="3" name="Afbeelding 25" descr="Effectory_Logo_Icon.png">
            <a:extLst>
              <a:ext uri="{FF2B5EF4-FFF2-40B4-BE49-F238E27FC236}">
                <a16:creationId xmlns:a16="http://schemas.microsoft.com/office/drawing/2014/main" id="{FCAAB506-F9D9-4521-B242-202864D1EC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96675" y="439341"/>
            <a:ext cx="208069" cy="289322"/>
          </a:xfrm>
          <a:prstGeom prst="rect">
            <a:avLst/>
          </a:prstGeom>
        </p:spPr>
      </p:pic>
      <p:sp>
        <p:nvSpPr>
          <p:cNvPr id="4" name="Tekstvak 6">
            <a:extLst>
              <a:ext uri="{FF2B5EF4-FFF2-40B4-BE49-F238E27FC236}">
                <a16:creationId xmlns:a16="http://schemas.microsoft.com/office/drawing/2014/main" id="{88B2011A-E540-4B1D-A642-8A240474BB16}"/>
              </a:ext>
            </a:extLst>
          </p:cNvPr>
          <p:cNvSpPr txBox="1"/>
          <p:nvPr userDrawn="1"/>
        </p:nvSpPr>
        <p:spPr>
          <a:xfrm>
            <a:off x="5415451" y="3338439"/>
            <a:ext cx="5215468" cy="461665"/>
          </a:xfrm>
          <a:prstGeom prst="rect">
            <a:avLst/>
          </a:prstGeom>
          <a:noFill/>
        </p:spPr>
        <p:txBody>
          <a:bodyPr wrap="square" rtlCol="0">
            <a:spAutoFit/>
          </a:bodyPr>
          <a:lstStyle/>
          <a:p>
            <a:pPr defTabSz="609585"/>
            <a:r>
              <a:rPr lang="nl-NL" sz="2400" b="1" spc="-67" err="1">
                <a:solidFill>
                  <a:srgbClr val="192743"/>
                </a:solidFill>
                <a:latin typeface="+mj-lt"/>
                <a:cs typeface="Century Gothic"/>
              </a:rPr>
              <a:t>Leading</a:t>
            </a:r>
            <a:r>
              <a:rPr lang="nl-NL" sz="2400" b="1" spc="-67">
                <a:solidFill>
                  <a:srgbClr val="192743"/>
                </a:solidFill>
                <a:latin typeface="+mj-lt"/>
                <a:cs typeface="Century Gothic"/>
              </a:rPr>
              <a:t> in employee feedback</a:t>
            </a:r>
          </a:p>
        </p:txBody>
      </p:sp>
      <p:pic>
        <p:nvPicPr>
          <p:cNvPr id="5" name="Afbeelding 8" descr="Effectory_Logo_horizontal.png">
            <a:extLst>
              <a:ext uri="{FF2B5EF4-FFF2-40B4-BE49-F238E27FC236}">
                <a16:creationId xmlns:a16="http://schemas.microsoft.com/office/drawing/2014/main" id="{0B611E9F-999F-4B45-A7E2-D986421A9FB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792940" y="3154843"/>
            <a:ext cx="3337904" cy="697144"/>
          </a:xfrm>
          <a:prstGeom prst="rect">
            <a:avLst/>
          </a:prstGeom>
        </p:spPr>
      </p:pic>
    </p:spTree>
    <p:extLst>
      <p:ext uri="{BB962C8B-B14F-4D97-AF65-F5344CB8AC3E}">
        <p14:creationId xmlns:p14="http://schemas.microsoft.com/office/powerpoint/2010/main" val="3764865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No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715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80BA03-3D10-4EA4-B26E-9829DB3E18E2}"/>
              </a:ext>
            </a:extLst>
          </p:cNvPr>
          <p:cNvSpPr>
            <a:spLocks noGrp="1"/>
          </p:cNvSpPr>
          <p:nvPr>
            <p:ph type="title"/>
          </p:nvPr>
        </p:nvSpPr>
        <p:spPr>
          <a:xfrm>
            <a:off x="838200" y="810705"/>
            <a:ext cx="10515600" cy="87998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1E54C331-1DD5-46D7-B88E-F36C6D3AB319}"/>
              </a:ext>
            </a:extLst>
          </p:cNvPr>
          <p:cNvSpPr>
            <a:spLocks noGrp="1"/>
          </p:cNvSpPr>
          <p:nvPr>
            <p:ph type="body" idx="1"/>
          </p:nvPr>
        </p:nvSpPr>
        <p:spPr>
          <a:xfrm>
            <a:off x="838200" y="1825625"/>
            <a:ext cx="10515600" cy="252013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33046492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3" r:id="rId3"/>
    <p:sldLayoutId id="2147483672" r:id="rId4"/>
    <p:sldLayoutId id="2147483674" r:id="rId5"/>
    <p:sldLayoutId id="2147483675" r:id="rId6"/>
    <p:sldLayoutId id="2147483676" r:id="rId7"/>
    <p:sldLayoutId id="2147483669" r:id="rId8"/>
    <p:sldLayoutId id="2147483650" r:id="rId9"/>
    <p:sldLayoutId id="2147483677" r:id="rId10"/>
    <p:sldLayoutId id="2147483678" r:id="rId11"/>
    <p:sldLayoutId id="2147483670" r:id="rId12"/>
    <p:sldLayoutId id="2147483668" r:id="rId13"/>
    <p:sldLayoutId id="2147483679" r:id="rId14"/>
    <p:sldLayoutId id="2147483681" r:id="rId15"/>
    <p:sldLayoutId id="2147483682" r:id="rId16"/>
    <p:sldLayoutId id="2147483683" r:id="rId17"/>
    <p:sldLayoutId id="2147483684" r:id="rId18"/>
    <p:sldLayoutId id="2147483649" r:id="rId19"/>
    <p:sldLayoutId id="2147483660" r:id="rId20"/>
    <p:sldLayoutId id="2147483686" r:id="rId21"/>
  </p:sldLayoutIdLst>
  <p:txStyles>
    <p:titleStyle>
      <a:lvl1pPr algn="l" defTabSz="914400" rtl="0" eaLnBrk="1" latinLnBrk="0" hangingPunct="1">
        <a:lnSpc>
          <a:spcPct val="90000"/>
        </a:lnSpc>
        <a:spcBef>
          <a:spcPct val="0"/>
        </a:spcBef>
        <a:buNone/>
        <a:defRPr sz="3000" b="1" kern="1200">
          <a:solidFill>
            <a:srgbClr val="192743"/>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92743"/>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92743"/>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92743"/>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p15:clr>
            <a:srgbClr val="F26B43"/>
          </p15:clr>
        </p15:guide>
        <p15:guide id="2" pos="7242">
          <p15:clr>
            <a:srgbClr val="F26B43"/>
          </p15:clr>
        </p15:guide>
        <p15:guide id="3" orient="horz" pos="459">
          <p15:clr>
            <a:srgbClr val="F26B43"/>
          </p15:clr>
        </p15:guide>
        <p15:guide id="4" orient="horz" pos="38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wall, yellow&#10;&#10;Description automatically generated">
            <a:extLst>
              <a:ext uri="{FF2B5EF4-FFF2-40B4-BE49-F238E27FC236}">
                <a16:creationId xmlns:a16="http://schemas.microsoft.com/office/drawing/2014/main" id="{76ACF4ED-30A1-457F-AF9F-B593B9C1C13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843" b="5781"/>
          <a:stretch/>
        </p:blipFill>
        <p:spPr>
          <a:xfrm>
            <a:off x="0" y="0"/>
            <a:ext cx="12192000" cy="6858000"/>
          </a:xfrm>
          <a:prstGeom prst="rect">
            <a:avLst/>
          </a:prstGeom>
        </p:spPr>
      </p:pic>
      <p:sp>
        <p:nvSpPr>
          <p:cNvPr id="10" name="Text Placeholder 3">
            <a:extLst>
              <a:ext uri="{FF2B5EF4-FFF2-40B4-BE49-F238E27FC236}">
                <a16:creationId xmlns:a16="http://schemas.microsoft.com/office/drawing/2014/main" id="{2193BC94-14FE-49F6-8AEA-333ED2FD69A7}"/>
              </a:ext>
            </a:extLst>
          </p:cNvPr>
          <p:cNvSpPr txBox="1">
            <a:spLocks/>
          </p:cNvSpPr>
          <p:nvPr/>
        </p:nvSpPr>
        <p:spPr>
          <a:xfrm>
            <a:off x="1859449" y="3872725"/>
            <a:ext cx="4748212" cy="333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92743"/>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92743"/>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92743"/>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92743"/>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4000" b="1" dirty="0">
                <a:solidFill>
                  <a:schemeClr val="tx1"/>
                </a:solidFill>
                <a:ea typeface="Open Sans Semibold" panose="020B0706030804020204" pitchFamily="34" charset="0"/>
                <a:cs typeface="Poppins SemiBold"/>
              </a:rPr>
              <a:t>Case</a:t>
            </a:r>
          </a:p>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r>
              <a:rPr lang="en-US" sz="4000" b="1" dirty="0">
                <a:solidFill>
                  <a:schemeClr val="bg1"/>
                </a:solidFill>
                <a:ea typeface="Open Sans Semibold" panose="020B0706030804020204" pitchFamily="34" charset="0"/>
                <a:cs typeface="Poppins SemiBold"/>
              </a:rPr>
              <a:t>Data Scientist</a:t>
            </a:r>
          </a:p>
          <a:p>
            <a:pPr marL="0" marR="0" lvl="0" indent="0" algn="l" defTabSz="914400" rtl="0" eaLnBrk="1" fontAlgn="auto" latinLnBrk="0" hangingPunct="1">
              <a:lnSpc>
                <a:spcPct val="100000"/>
              </a:lnSpc>
              <a:spcBef>
                <a:spcPct val="0"/>
              </a:spcBef>
              <a:spcAft>
                <a:spcPts val="0"/>
              </a:spcAft>
              <a:buClrTx/>
              <a:buSzTx/>
              <a:buFont typeface="Arial" panose="020B0604020202020204" pitchFamily="34" charset="0"/>
              <a:buNone/>
              <a:tabLst/>
              <a:defRPr/>
            </a:pPr>
            <a:endParaRPr kumimoji="0" lang="en-US" sz="4000" b="1" i="0" u="none" strike="noStrike" kern="1200" cap="none" spc="0" normalizeH="0" baseline="0" noProof="0" dirty="0">
              <a:ln>
                <a:noFill/>
              </a:ln>
              <a:solidFill>
                <a:schemeClr val="tx1"/>
              </a:solidFill>
              <a:effectLst/>
              <a:uLnTx/>
              <a:uFillTx/>
              <a:latin typeface="Century Gothic" panose="020B0502020202020204" pitchFamily="34" charset="0"/>
              <a:ea typeface="Open Sans Semibold" panose="020B0706030804020204" pitchFamily="34" charset="0"/>
              <a:cs typeface="Poppins SemiBold"/>
            </a:endParaRPr>
          </a:p>
        </p:txBody>
      </p:sp>
    </p:spTree>
    <p:extLst>
      <p:ext uri="{BB962C8B-B14F-4D97-AF65-F5344CB8AC3E}">
        <p14:creationId xmlns:p14="http://schemas.microsoft.com/office/powerpoint/2010/main" val="2348592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B2987-8AA5-58EE-88B9-29E14C15B72E}"/>
              </a:ext>
            </a:extLst>
          </p:cNvPr>
          <p:cNvSpPr txBox="1"/>
          <p:nvPr/>
        </p:nvSpPr>
        <p:spPr>
          <a:xfrm>
            <a:off x="662152" y="668458"/>
            <a:ext cx="7907983" cy="646331"/>
          </a:xfrm>
          <a:prstGeom prst="rect">
            <a:avLst/>
          </a:prstGeom>
          <a:noFill/>
        </p:spPr>
        <p:txBody>
          <a:bodyPr wrap="square" rtlCol="0">
            <a:spAutoFit/>
          </a:bodyPr>
          <a:lstStyle/>
          <a:p>
            <a:r>
              <a:rPr lang="en-US" sz="3600" b="1" dirty="0"/>
              <a:t>The Assignment</a:t>
            </a:r>
          </a:p>
        </p:txBody>
      </p:sp>
      <p:sp>
        <p:nvSpPr>
          <p:cNvPr id="5" name="TextBox 4">
            <a:extLst>
              <a:ext uri="{FF2B5EF4-FFF2-40B4-BE49-F238E27FC236}">
                <a16:creationId xmlns:a16="http://schemas.microsoft.com/office/drawing/2014/main" id="{F8EFC8CC-23DE-3CA5-32A8-5D69B5F324F1}"/>
              </a:ext>
            </a:extLst>
          </p:cNvPr>
          <p:cNvSpPr txBox="1"/>
          <p:nvPr/>
        </p:nvSpPr>
        <p:spPr>
          <a:xfrm>
            <a:off x="662152" y="1413372"/>
            <a:ext cx="6094948" cy="4790094"/>
          </a:xfrm>
          <a:prstGeom prst="rect">
            <a:avLst/>
          </a:prstGeom>
          <a:noFill/>
        </p:spPr>
        <p:txBody>
          <a:bodyPr wrap="square" lIns="91440" tIns="45720" rIns="91440" bIns="45720" anchor="t">
            <a:spAutoFit/>
          </a:bodyPr>
          <a:lstStyle/>
          <a:p>
            <a:r>
              <a:rPr lang="en-US" b="1" dirty="0">
                <a:solidFill>
                  <a:schemeClr val="bg2"/>
                </a:solidFill>
              </a:rPr>
              <a:t>Context</a:t>
            </a:r>
          </a:p>
          <a:p>
            <a:endParaRPr lang="en-US" sz="1100" dirty="0">
              <a:solidFill>
                <a:schemeClr val="bg2"/>
              </a:solidFill>
            </a:endParaRPr>
          </a:p>
          <a:p>
            <a:pPr>
              <a:lnSpc>
                <a:spcPct val="150000"/>
              </a:lnSpc>
              <a:defRPr/>
            </a:pPr>
            <a:r>
              <a:rPr lang="en-US" sz="1050" dirty="0">
                <a:solidFill>
                  <a:srgbClr val="192743"/>
                </a:solidFill>
                <a:latin typeface="Century Gothic" panose="020B0502020202020204" pitchFamily="34" charset="0"/>
                <a:ea typeface="Open Sans Light" panose="020B0306030504020204" pitchFamily="34" charset="0"/>
                <a:cs typeface="Poppins Medium"/>
              </a:rPr>
              <a:t>Our clients can create customized employee surveys including questions based on different topics. Examples of popular HR topics are Employee Engagement and Retention. Topics can be divided into themes and items. Most questions have structured responses, but some use open-text responses.</a:t>
            </a:r>
          </a:p>
          <a:p>
            <a:pPr>
              <a:lnSpc>
                <a:spcPct val="150000"/>
              </a:lnSpc>
              <a:defRPr/>
            </a:pPr>
            <a:endParaRPr lang="en-US" sz="1050" dirty="0">
              <a:solidFill>
                <a:srgbClr val="192743"/>
              </a:solidFill>
              <a:latin typeface="Century Gothic" panose="020B0502020202020204" pitchFamily="34" charset="0"/>
              <a:ea typeface="Open Sans Light" panose="020B0306030504020204" pitchFamily="34" charset="0"/>
              <a:cs typeface="Poppins Medium"/>
            </a:endParaRPr>
          </a:p>
          <a:p>
            <a:pPr>
              <a:lnSpc>
                <a:spcPct val="150000"/>
              </a:lnSpc>
              <a:defRPr/>
            </a:pPr>
            <a:r>
              <a:rPr lang="en-US" sz="1100" b="1" dirty="0">
                <a:solidFill>
                  <a:srgbClr val="192743"/>
                </a:solidFill>
                <a:latin typeface="Century Gothic" panose="020B0502020202020204" pitchFamily="34" charset="0"/>
                <a:ea typeface="Open Sans Light" panose="020B0306030504020204" pitchFamily="34" charset="0"/>
                <a:cs typeface="Poppins Medium"/>
              </a:rPr>
              <a:t>Explanation about themes and items</a:t>
            </a:r>
          </a:p>
          <a:p>
            <a:pPr>
              <a:lnSpc>
                <a:spcPct val="150000"/>
              </a:lnSpc>
              <a:defRPr/>
            </a:pPr>
            <a:r>
              <a:rPr lang="en-US" sz="1050" i="1" dirty="0">
                <a:solidFill>
                  <a:srgbClr val="192743"/>
                </a:solidFill>
                <a:latin typeface="Century Gothic" panose="020B0502020202020204" pitchFamily="34" charset="0"/>
                <a:ea typeface="Open Sans Light" panose="020B0306030504020204" pitchFamily="34" charset="0"/>
                <a:cs typeface="Poppins Medium"/>
              </a:rPr>
              <a:t>Items</a:t>
            </a:r>
            <a:r>
              <a:rPr lang="en-US" sz="1050" dirty="0">
                <a:solidFill>
                  <a:srgbClr val="192743"/>
                </a:solidFill>
                <a:latin typeface="Century Gothic" panose="020B0502020202020204" pitchFamily="34" charset="0"/>
                <a:ea typeface="Open Sans Light" panose="020B0306030504020204" pitchFamily="34" charset="0"/>
                <a:cs typeface="Poppins Medium"/>
              </a:rPr>
              <a:t> are the statements or questions in the survey (e.g. I enjoy doing my work / tasks.) </a:t>
            </a:r>
          </a:p>
          <a:p>
            <a:pPr>
              <a:lnSpc>
                <a:spcPct val="150000"/>
              </a:lnSpc>
              <a:defRPr/>
            </a:pPr>
            <a:r>
              <a:rPr lang="en-US" sz="1050" i="1" dirty="0">
                <a:solidFill>
                  <a:srgbClr val="192743"/>
                </a:solidFill>
                <a:latin typeface="Century Gothic" panose="020B0502020202020204" pitchFamily="34" charset="0"/>
                <a:ea typeface="Open Sans Light" panose="020B0306030504020204" pitchFamily="34" charset="0"/>
                <a:cs typeface="Poppins Medium"/>
              </a:rPr>
              <a:t>Themes</a:t>
            </a:r>
            <a:r>
              <a:rPr lang="en-US" sz="1050" dirty="0">
                <a:solidFill>
                  <a:srgbClr val="192743"/>
                </a:solidFill>
                <a:latin typeface="Century Gothic" panose="020B0502020202020204" pitchFamily="34" charset="0"/>
                <a:ea typeface="Open Sans Light" panose="020B0306030504020204" pitchFamily="34" charset="0"/>
                <a:cs typeface="Poppins Medium"/>
              </a:rPr>
              <a:t> (in the survey results data file referred to as </a:t>
            </a:r>
            <a:r>
              <a:rPr lang="en-US" sz="1050" i="1" dirty="0">
                <a:solidFill>
                  <a:srgbClr val="192743"/>
                </a:solidFill>
                <a:latin typeface="Century Gothic" panose="020B0502020202020204" pitchFamily="34" charset="0"/>
                <a:ea typeface="Open Sans Light" panose="020B0306030504020204" pitchFamily="34" charset="0"/>
                <a:cs typeface="Poppins Medium"/>
              </a:rPr>
              <a:t>Modules</a:t>
            </a:r>
            <a:r>
              <a:rPr lang="en-US" sz="1050" dirty="0">
                <a:solidFill>
                  <a:srgbClr val="192743"/>
                </a:solidFill>
                <a:latin typeface="Century Gothic" panose="020B0502020202020204" pitchFamily="34" charset="0"/>
                <a:ea typeface="Open Sans Light" panose="020B0306030504020204" pitchFamily="34" charset="0"/>
                <a:cs typeface="Poppins Medium"/>
              </a:rPr>
              <a:t>) are relevant HR Topics that consist of one or multiple items. Themes are calculated as the average of underlying ordinal items on the 5-point-Likert scale.</a:t>
            </a:r>
          </a:p>
          <a:p>
            <a:pPr>
              <a:lnSpc>
                <a:spcPct val="150000"/>
              </a:lnSpc>
              <a:defRPr/>
            </a:pPr>
            <a:endParaRPr lang="en-US" sz="1050" dirty="0">
              <a:solidFill>
                <a:srgbClr val="192743"/>
              </a:solidFill>
              <a:latin typeface="Century Gothic" panose="020B0502020202020204" pitchFamily="34" charset="0"/>
              <a:ea typeface="Open Sans Light" panose="020B0306030504020204" pitchFamily="34" charset="0"/>
              <a:cs typeface="Poppins Medium"/>
            </a:endParaRPr>
          </a:p>
          <a:p>
            <a:pPr>
              <a:lnSpc>
                <a:spcPct val="150000"/>
              </a:lnSpc>
              <a:defRPr/>
            </a:pPr>
            <a:r>
              <a:rPr lang="en-US" sz="1050" b="1" dirty="0">
                <a:solidFill>
                  <a:srgbClr val="192743"/>
                </a:solidFill>
                <a:latin typeface="Century Gothic" panose="020B0502020202020204" pitchFamily="34" charset="0"/>
                <a:ea typeface="Open Sans Light" panose="020B0306030504020204" pitchFamily="34" charset="0"/>
                <a:cs typeface="Poppins Medium"/>
              </a:rPr>
              <a:t>Engagement theme items:</a:t>
            </a:r>
          </a:p>
          <a:p>
            <a:pPr marL="228600" indent="-22860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I enjoy doing my work / tasks</a:t>
            </a:r>
          </a:p>
          <a:p>
            <a:pPr marL="228600" indent="-22860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Doing my work gives me energy</a:t>
            </a:r>
          </a:p>
          <a:p>
            <a:pPr marL="228600" indent="-22860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I am proud to work at my organization</a:t>
            </a:r>
          </a:p>
          <a:p>
            <a:pPr marL="228600" indent="-228600">
              <a:lnSpc>
                <a:spcPct val="150000"/>
              </a:lnSpc>
              <a:buFont typeface="Arial" panose="020B0604020202020204" pitchFamily="34" charset="0"/>
              <a:buChar char="•"/>
              <a:defRPr/>
            </a:pPr>
            <a:r>
              <a:rPr lang="en-US" sz="1050" dirty="0">
                <a:solidFill>
                  <a:srgbClr val="192743"/>
                </a:solidFill>
                <a:latin typeface="Century Gothic" panose="020B0502020202020204" pitchFamily="34" charset="0"/>
                <a:ea typeface="Open Sans Light" panose="020B0306030504020204" pitchFamily="34" charset="0"/>
                <a:cs typeface="Poppins Medium"/>
              </a:rPr>
              <a:t>I feel that I fit in at my organization</a:t>
            </a:r>
          </a:p>
          <a:p>
            <a:pPr>
              <a:lnSpc>
                <a:spcPct val="150000"/>
              </a:lnSpc>
              <a:defRPr/>
            </a:pPr>
            <a:endParaRPr lang="nl-NL" b="1" dirty="0">
              <a:solidFill>
                <a:srgbClr val="192743"/>
              </a:solidFill>
              <a:latin typeface="Century Gothic" panose="020B0502020202020204" pitchFamily="34" charset="0"/>
              <a:ea typeface="Open Sans Light" panose="020B0306030504020204" pitchFamily="34" charset="0"/>
              <a:cs typeface="Poppins Medium"/>
            </a:endParaRPr>
          </a:p>
        </p:txBody>
      </p:sp>
      <p:sp>
        <p:nvSpPr>
          <p:cNvPr id="8" name="Rectangle 7">
            <a:extLst>
              <a:ext uri="{FF2B5EF4-FFF2-40B4-BE49-F238E27FC236}">
                <a16:creationId xmlns:a16="http://schemas.microsoft.com/office/drawing/2014/main" id="{701E2D76-1141-5BA6-75A4-6727D13F5D44}"/>
              </a:ext>
            </a:extLst>
          </p:cNvPr>
          <p:cNvSpPr/>
          <p:nvPr/>
        </p:nvSpPr>
        <p:spPr>
          <a:xfrm>
            <a:off x="7699879" y="0"/>
            <a:ext cx="449212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defRPr/>
            </a:pPr>
            <a:endParaRPr lang="en-US" sz="1100" dirty="0">
              <a:solidFill>
                <a:schemeClr val="tx1"/>
              </a:solidFill>
              <a:latin typeface="Century Gothic"/>
              <a:ea typeface="Open Sans Light"/>
              <a:cs typeface="Poppins Medium"/>
            </a:endParaRPr>
          </a:p>
        </p:txBody>
      </p:sp>
      <p:sp>
        <p:nvSpPr>
          <p:cNvPr id="10" name="TextBox 9">
            <a:extLst>
              <a:ext uri="{FF2B5EF4-FFF2-40B4-BE49-F238E27FC236}">
                <a16:creationId xmlns:a16="http://schemas.microsoft.com/office/drawing/2014/main" id="{0272E46F-ABDB-7A50-22B8-9CADC698B024}"/>
              </a:ext>
            </a:extLst>
          </p:cNvPr>
          <p:cNvSpPr txBox="1"/>
          <p:nvPr/>
        </p:nvSpPr>
        <p:spPr>
          <a:xfrm>
            <a:off x="7850400" y="2720377"/>
            <a:ext cx="4144492" cy="369332"/>
          </a:xfrm>
          <a:prstGeom prst="rect">
            <a:avLst/>
          </a:prstGeom>
          <a:noFill/>
        </p:spPr>
        <p:txBody>
          <a:bodyPr wrap="square">
            <a:spAutoFit/>
          </a:bodyPr>
          <a:lstStyle/>
          <a:p>
            <a:r>
              <a:rPr lang="en-US" b="1" dirty="0">
                <a:solidFill>
                  <a:schemeClr val="bg1"/>
                </a:solidFill>
              </a:rPr>
              <a:t>Effectory’s vision</a:t>
            </a:r>
          </a:p>
        </p:txBody>
      </p:sp>
      <p:sp>
        <p:nvSpPr>
          <p:cNvPr id="4" name="TextBox 3">
            <a:extLst>
              <a:ext uri="{FF2B5EF4-FFF2-40B4-BE49-F238E27FC236}">
                <a16:creationId xmlns:a16="http://schemas.microsoft.com/office/drawing/2014/main" id="{0DE5D460-0CFE-26C3-4499-126414AE5F1A}"/>
              </a:ext>
            </a:extLst>
          </p:cNvPr>
          <p:cNvSpPr txBox="1"/>
          <p:nvPr/>
        </p:nvSpPr>
        <p:spPr>
          <a:xfrm>
            <a:off x="7873693" y="3030624"/>
            <a:ext cx="4144492" cy="3210046"/>
          </a:xfrm>
          <a:prstGeom prst="rect">
            <a:avLst/>
          </a:prstGeom>
          <a:noFill/>
        </p:spPr>
        <p:txBody>
          <a:bodyPr wrap="square">
            <a:spAutoFit/>
          </a:bodyPr>
          <a:lstStyle/>
          <a:p>
            <a:pPr>
              <a:lnSpc>
                <a:spcPts val="1500"/>
              </a:lnSpc>
              <a:defRPr/>
            </a:pPr>
            <a:r>
              <a:rPr lang="en-US" sz="1000" b="1" dirty="0">
                <a:solidFill>
                  <a:schemeClr val="tx1"/>
                </a:solidFill>
                <a:latin typeface="Century Gothic"/>
                <a:ea typeface="Open Sans Light"/>
                <a:cs typeface="Poppins Medium"/>
              </a:rPr>
              <a:t>A working world where every voice matters, and every organization thrives.​</a:t>
            </a:r>
          </a:p>
          <a:p>
            <a:pPr>
              <a:lnSpc>
                <a:spcPts val="1500"/>
              </a:lnSpc>
              <a:defRPr/>
            </a:pPr>
            <a:r>
              <a:rPr lang="en-US" sz="1000" dirty="0">
                <a:latin typeface="Century Gothic"/>
                <a:ea typeface="+mn-lt"/>
                <a:cs typeface="+mn-lt"/>
              </a:rPr>
              <a:t>We envision a world where every workplace recognizes that the true strength of their organization lies in their people, actively</a:t>
            </a:r>
          </a:p>
          <a:p>
            <a:pPr>
              <a:lnSpc>
                <a:spcPts val="1500"/>
              </a:lnSpc>
              <a:defRPr/>
            </a:pPr>
            <a:r>
              <a:rPr lang="en-US" sz="1000" dirty="0">
                <a:latin typeface="Century Gothic"/>
                <a:ea typeface="+mn-lt"/>
                <a:cs typeface="+mn-lt"/>
              </a:rPr>
              <a:t>seeking their ideas and opinions to create better employee experiences and drive organizational success.​</a:t>
            </a:r>
          </a:p>
          <a:p>
            <a:pPr>
              <a:lnSpc>
                <a:spcPct val="150000"/>
              </a:lnSpc>
              <a:defRPr/>
            </a:pPr>
            <a:r>
              <a:rPr lang="en-US" b="1" dirty="0">
                <a:solidFill>
                  <a:schemeClr val="bg1"/>
                </a:solidFill>
                <a:latin typeface="Century Gothic"/>
                <a:ea typeface="+mn-lt"/>
                <a:cs typeface="+mn-lt"/>
              </a:rPr>
              <a:t>Our mission</a:t>
            </a:r>
            <a:endParaRPr lang="en-US" dirty="0">
              <a:latin typeface="Century Gothic"/>
              <a:ea typeface="+mn-lt"/>
              <a:cs typeface="+mn-lt"/>
            </a:endParaRPr>
          </a:p>
          <a:p>
            <a:pPr marL="0" marR="0" lvl="0" indent="0" algn="l" defTabSz="914400" rtl="0" eaLnBrk="1" fontAlgn="auto" latinLnBrk="0" hangingPunct="1">
              <a:lnSpc>
                <a:spcPts val="1500"/>
              </a:lnSpc>
              <a:spcBef>
                <a:spcPts val="0"/>
              </a:spcBef>
              <a:spcAft>
                <a:spcPts val="0"/>
              </a:spcAft>
              <a:buClrTx/>
              <a:buSzTx/>
              <a:buFontTx/>
              <a:buNone/>
              <a:tabLst/>
              <a:defRPr/>
            </a:pPr>
            <a:r>
              <a:rPr lang="en-US" sz="1000" b="1" dirty="0">
                <a:solidFill>
                  <a:schemeClr val="tx1"/>
                </a:solidFill>
                <a:latin typeface="Century Gothic"/>
                <a:ea typeface="+mn-lt"/>
                <a:cs typeface="+mn-lt"/>
              </a:rPr>
              <a:t>To build meaningful organizations with the voice of every employee.</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i="0" u="none" strike="noStrike" kern="1200" cap="none" spc="0" normalizeH="0" baseline="0" noProof="0" dirty="0">
                <a:ln>
                  <a:noFill/>
                </a:ln>
                <a:effectLst/>
                <a:uLnTx/>
                <a:uFillTx/>
                <a:latin typeface="Century Gothic" panose="020F0302020204030204"/>
              </a:rPr>
              <a:t>We empower organizations to truly understand their people, ensuring they feel heard and supported. Through actionable insights and expert guidance, we help create workplaces where engagement and productivity thrive, driving success for both people and organizations.</a:t>
            </a:r>
          </a:p>
          <a:p>
            <a:pPr>
              <a:lnSpc>
                <a:spcPct val="150000"/>
              </a:lnSpc>
              <a:defRPr/>
            </a:pPr>
            <a:r>
              <a:rPr lang="en-US" sz="1000" dirty="0">
                <a:solidFill>
                  <a:schemeClr val="tx1"/>
                </a:solidFill>
                <a:latin typeface="Century Gothic"/>
                <a:ea typeface="Open Sans Light"/>
                <a:cs typeface="Poppins Medium"/>
              </a:rPr>
              <a:t> </a:t>
            </a:r>
          </a:p>
        </p:txBody>
      </p:sp>
      <p:pic>
        <p:nvPicPr>
          <p:cNvPr id="9" name="Picture 8">
            <a:extLst>
              <a:ext uri="{FF2B5EF4-FFF2-40B4-BE49-F238E27FC236}">
                <a16:creationId xmlns:a16="http://schemas.microsoft.com/office/drawing/2014/main" id="{D2B22A2B-AC42-F5E4-48FE-1C2964999C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81682" y="6189542"/>
            <a:ext cx="2928514" cy="279967"/>
          </a:xfrm>
          <a:prstGeom prst="rect">
            <a:avLst/>
          </a:prstGeom>
        </p:spPr>
      </p:pic>
      <p:sp>
        <p:nvSpPr>
          <p:cNvPr id="6" name="TextBox 5">
            <a:extLst>
              <a:ext uri="{FF2B5EF4-FFF2-40B4-BE49-F238E27FC236}">
                <a16:creationId xmlns:a16="http://schemas.microsoft.com/office/drawing/2014/main" id="{A7F0E912-F3BB-B213-4C5C-A308B5C0C0BE}"/>
              </a:ext>
            </a:extLst>
          </p:cNvPr>
          <p:cNvSpPr txBox="1"/>
          <p:nvPr/>
        </p:nvSpPr>
        <p:spPr>
          <a:xfrm>
            <a:off x="7873693" y="886635"/>
            <a:ext cx="4191225" cy="1892826"/>
          </a:xfrm>
          <a:prstGeom prst="rect">
            <a:avLst/>
          </a:prstGeom>
          <a:noFill/>
        </p:spPr>
        <p:txBody>
          <a:bodyPr wrap="square" lIns="91440" tIns="45720" rIns="91440" bIns="45720" rtlCol="0" anchor="t">
            <a:spAutoFit/>
          </a:bodyPr>
          <a:lstStyle/>
          <a:p>
            <a:r>
              <a:rPr lang="en-US" sz="900" b="1" dirty="0">
                <a:solidFill>
                  <a:srgbClr val="192743"/>
                </a:solidFill>
                <a:ea typeface="+mn-lt"/>
                <a:cs typeface="+mn-lt"/>
              </a:rPr>
              <a:t>A few days before the case</a:t>
            </a:r>
            <a:br>
              <a:rPr lang="en-US" sz="900" dirty="0"/>
            </a:br>
            <a:r>
              <a:rPr lang="en-US" sz="900" dirty="0">
                <a:solidFill>
                  <a:srgbClr val="192743"/>
                </a:solidFill>
              </a:rPr>
              <a:t>- You receive the briefing from Effectory</a:t>
            </a:r>
          </a:p>
          <a:p>
            <a:r>
              <a:rPr lang="en-US" sz="900" dirty="0">
                <a:solidFill>
                  <a:srgbClr val="192743"/>
                </a:solidFill>
              </a:rPr>
              <a:t>- You read up on the case and prepare solution</a:t>
            </a:r>
          </a:p>
          <a:p>
            <a:endParaRPr lang="en-US" sz="900" dirty="0">
              <a:solidFill>
                <a:srgbClr val="192743"/>
              </a:solidFill>
            </a:endParaRPr>
          </a:p>
          <a:p>
            <a:r>
              <a:rPr lang="en-US" sz="900" b="1" dirty="0">
                <a:solidFill>
                  <a:srgbClr val="192743"/>
                </a:solidFill>
              </a:rPr>
              <a:t>The day before the case (24h in advance)</a:t>
            </a:r>
          </a:p>
          <a:p>
            <a:r>
              <a:rPr lang="en-US" sz="900" dirty="0">
                <a:solidFill>
                  <a:srgbClr val="192743"/>
                </a:solidFill>
              </a:rPr>
              <a:t>- You provide your notebook for review</a:t>
            </a:r>
          </a:p>
          <a:p>
            <a:br>
              <a:rPr lang="en-US" sz="900" dirty="0"/>
            </a:br>
            <a:r>
              <a:rPr lang="en-US" sz="900" b="1" dirty="0">
                <a:solidFill>
                  <a:srgbClr val="192743"/>
                </a:solidFill>
              </a:rPr>
              <a:t>On the day of the case </a:t>
            </a:r>
          </a:p>
          <a:p>
            <a:r>
              <a:rPr lang="en-US" sz="900" dirty="0">
                <a:solidFill>
                  <a:srgbClr val="192743"/>
                </a:solidFill>
              </a:rPr>
              <a:t>10 mins | You get to prepare the room </a:t>
            </a:r>
          </a:p>
          <a:p>
            <a:r>
              <a:rPr lang="en-US" sz="900" dirty="0">
                <a:solidFill>
                  <a:srgbClr val="192743"/>
                </a:solidFill>
              </a:rPr>
              <a:t>40 mins | You present your solutions + we ask questions</a:t>
            </a:r>
            <a:endParaRPr lang="en-US" dirty="0"/>
          </a:p>
          <a:p>
            <a:r>
              <a:rPr lang="en-US" sz="900" dirty="0">
                <a:solidFill>
                  <a:srgbClr val="192743"/>
                </a:solidFill>
              </a:rPr>
              <a:t>25 mins | We discuss possible solutions to the discussion questions </a:t>
            </a:r>
          </a:p>
          <a:p>
            <a:r>
              <a:rPr lang="en-US" sz="900" dirty="0">
                <a:solidFill>
                  <a:srgbClr val="192743"/>
                </a:solidFill>
              </a:rPr>
              <a:t>5 mins   | We give each other feedback</a:t>
            </a:r>
          </a:p>
          <a:p>
            <a:endParaRPr lang="en-US" sz="900" dirty="0">
              <a:solidFill>
                <a:schemeClr val="tx2"/>
              </a:solidFill>
            </a:endParaRPr>
          </a:p>
        </p:txBody>
      </p:sp>
      <p:sp>
        <p:nvSpPr>
          <p:cNvPr id="12" name="TextBox 11">
            <a:extLst>
              <a:ext uri="{FF2B5EF4-FFF2-40B4-BE49-F238E27FC236}">
                <a16:creationId xmlns:a16="http://schemas.microsoft.com/office/drawing/2014/main" id="{F72604C1-6933-D622-0346-DFCD05083AA8}"/>
              </a:ext>
            </a:extLst>
          </p:cNvPr>
          <p:cNvSpPr txBox="1"/>
          <p:nvPr/>
        </p:nvSpPr>
        <p:spPr>
          <a:xfrm>
            <a:off x="7850400" y="583914"/>
            <a:ext cx="4144492" cy="369332"/>
          </a:xfrm>
          <a:prstGeom prst="rect">
            <a:avLst/>
          </a:prstGeom>
          <a:noFill/>
        </p:spPr>
        <p:txBody>
          <a:bodyPr wrap="square" lIns="91440" tIns="45720" rIns="91440" bIns="45720" anchor="t">
            <a:spAutoFit/>
          </a:bodyPr>
          <a:lstStyle/>
          <a:p>
            <a:r>
              <a:rPr lang="en-US" b="1" dirty="0">
                <a:solidFill>
                  <a:schemeClr val="bg1"/>
                </a:solidFill>
              </a:rPr>
              <a:t>Timeline </a:t>
            </a:r>
            <a:endParaRPr lang="en-US" dirty="0">
              <a:solidFill>
                <a:schemeClr val="bg1"/>
              </a:solidFill>
            </a:endParaRPr>
          </a:p>
        </p:txBody>
      </p:sp>
    </p:spTree>
    <p:extLst>
      <p:ext uri="{BB962C8B-B14F-4D97-AF65-F5344CB8AC3E}">
        <p14:creationId xmlns:p14="http://schemas.microsoft.com/office/powerpoint/2010/main" val="454555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9B2987-8AA5-58EE-88B9-29E14C15B72E}"/>
              </a:ext>
            </a:extLst>
          </p:cNvPr>
          <p:cNvSpPr txBox="1"/>
          <p:nvPr/>
        </p:nvSpPr>
        <p:spPr>
          <a:xfrm>
            <a:off x="662152" y="668458"/>
            <a:ext cx="7907983" cy="646331"/>
          </a:xfrm>
          <a:prstGeom prst="rect">
            <a:avLst/>
          </a:prstGeom>
          <a:noFill/>
        </p:spPr>
        <p:txBody>
          <a:bodyPr wrap="square" rtlCol="0">
            <a:spAutoFit/>
          </a:bodyPr>
          <a:lstStyle/>
          <a:p>
            <a:r>
              <a:rPr lang="en-US" sz="3600" b="1" dirty="0"/>
              <a:t>Tasks</a:t>
            </a:r>
          </a:p>
        </p:txBody>
      </p:sp>
      <p:sp>
        <p:nvSpPr>
          <p:cNvPr id="5" name="TextBox 4">
            <a:extLst>
              <a:ext uri="{FF2B5EF4-FFF2-40B4-BE49-F238E27FC236}">
                <a16:creationId xmlns:a16="http://schemas.microsoft.com/office/drawing/2014/main" id="{F8EFC8CC-23DE-3CA5-32A8-5D69B5F324F1}"/>
              </a:ext>
            </a:extLst>
          </p:cNvPr>
          <p:cNvSpPr txBox="1"/>
          <p:nvPr/>
        </p:nvSpPr>
        <p:spPr>
          <a:xfrm>
            <a:off x="662152" y="1394523"/>
            <a:ext cx="6094948" cy="4530920"/>
          </a:xfrm>
          <a:prstGeom prst="rect">
            <a:avLst/>
          </a:prstGeom>
          <a:noFill/>
        </p:spPr>
        <p:txBody>
          <a:bodyPr wrap="square">
            <a:spAutoFit/>
          </a:bodyPr>
          <a:lstStyle/>
          <a:p>
            <a:pPr>
              <a:lnSpc>
                <a:spcPct val="150000"/>
              </a:lnSpc>
              <a:defRPr/>
            </a:pPr>
            <a:r>
              <a:rPr lang="nl-NL" b="1" dirty="0">
                <a:solidFill>
                  <a:srgbClr val="192743"/>
                </a:solidFill>
                <a:latin typeface="Century Gothic"/>
                <a:ea typeface="Open Sans Light"/>
                <a:cs typeface="Poppins Medium"/>
              </a:rPr>
              <a:t>What is expected of you</a:t>
            </a:r>
          </a:p>
          <a:p>
            <a:endParaRPr lang="en-US" sz="1000" i="1" u="sng" dirty="0"/>
          </a:p>
          <a:p>
            <a:pPr>
              <a:lnSpc>
                <a:spcPct val="150000"/>
              </a:lnSpc>
              <a:spcAft>
                <a:spcPts val="800"/>
              </a:spcAft>
            </a:pPr>
            <a:r>
              <a:rPr lang="en-US" sz="1000" dirty="0">
                <a:effectLst/>
                <a:latin typeface="+mj-lt"/>
                <a:ea typeface="Calibri" panose="020F0502020204030204" pitchFamily="34" charset="0"/>
                <a:cs typeface="Times New Roman" panose="02020603050405020304" pitchFamily="18" charset="0"/>
              </a:rPr>
              <a:t>Use Jupyter Notebook with Python. </a:t>
            </a:r>
          </a:p>
          <a:p>
            <a:pPr>
              <a:lnSpc>
                <a:spcPct val="150000"/>
              </a:lnSpc>
              <a:spcAft>
                <a:spcPts val="800"/>
              </a:spcAft>
            </a:pPr>
            <a:r>
              <a:rPr lang="en-US" sz="1000" dirty="0">
                <a:effectLst/>
                <a:latin typeface="+mj-lt"/>
                <a:ea typeface="Calibri" panose="020F0502020204030204" pitchFamily="34" charset="0"/>
                <a:cs typeface="Times New Roman" panose="02020603050405020304" pitchFamily="18" charset="0"/>
              </a:rPr>
              <a:t>You are provided with a </a:t>
            </a:r>
            <a:r>
              <a:rPr lang="en-US" sz="1000" i="1" dirty="0">
                <a:latin typeface="+mj-lt"/>
                <a:ea typeface="Calibri" panose="020F0502020204030204" pitchFamily="34" charset="0"/>
                <a:cs typeface="Times New Roman" panose="02020603050405020304" pitchFamily="18" charset="0"/>
              </a:rPr>
              <a:t>survey results</a:t>
            </a:r>
            <a:r>
              <a:rPr lang="en-US" sz="1000" i="1" dirty="0">
                <a:effectLst/>
                <a:latin typeface="+mj-lt"/>
                <a:ea typeface="Calibri" panose="020F0502020204030204" pitchFamily="34" charset="0"/>
                <a:cs typeface="Times New Roman" panose="02020603050405020304" pitchFamily="18" charset="0"/>
              </a:rPr>
              <a:t> data file </a:t>
            </a:r>
            <a:r>
              <a:rPr lang="en-US" sz="1000" dirty="0">
                <a:effectLst/>
                <a:latin typeface="+mj-lt"/>
                <a:ea typeface="Calibri" panose="020F0502020204030204" pitchFamily="34" charset="0"/>
                <a:cs typeface="Times New Roman" panose="02020603050405020304" pitchFamily="18" charset="0"/>
              </a:rPr>
              <a:t>with the answers to a survey by a fictional client called ‘The Organization’. We will ask you explain what you have done in your notebooks and why. </a:t>
            </a:r>
            <a:r>
              <a:rPr lang="en-US" sz="1000" dirty="0">
                <a:ea typeface="Calibri" panose="020F0502020204030204" pitchFamily="34" charset="0"/>
                <a:cs typeface="Times New Roman" panose="02020603050405020304" pitchFamily="18" charset="0"/>
              </a:rPr>
              <a:t>Your notebook should address the questions below:</a:t>
            </a:r>
            <a:endParaRPr lang="en-US" sz="1000" dirty="0">
              <a:effectLst/>
              <a:latin typeface="+mj-lt"/>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000" dirty="0">
                <a:effectLst/>
                <a:latin typeface="+mj-lt"/>
                <a:ea typeface="Calibri" panose="020F0502020204030204" pitchFamily="34" charset="0"/>
                <a:cs typeface="Times New Roman" panose="02020603050405020304" pitchFamily="18" charset="0"/>
              </a:rPr>
              <a:t>Overall Performance</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How would you assess how The Organization is performing on this survey?</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Include descriptive statistics and visualizations to support your conclusions.</a:t>
            </a:r>
          </a:p>
          <a:p>
            <a:pPr marL="342900" indent="-342900">
              <a:lnSpc>
                <a:spcPct val="150000"/>
              </a:lnSpc>
              <a:buFont typeface="+mj-lt"/>
              <a:buAutoNum type="arabicPeriod"/>
            </a:pPr>
            <a:r>
              <a:rPr lang="en-US" sz="1000" dirty="0">
                <a:effectLst/>
                <a:latin typeface="+mj-lt"/>
                <a:ea typeface="Calibri" panose="020F0502020204030204" pitchFamily="34" charset="0"/>
                <a:cs typeface="Times New Roman" panose="02020603050405020304" pitchFamily="18" charset="0"/>
              </a:rPr>
              <a:t>Actionable Insights</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Suggest how managers can improve in their specific problem areas.</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Identify which factors most strongly relate to increased intention to leave (QuestionId: 3250780).</a:t>
            </a:r>
          </a:p>
          <a:p>
            <a:pPr marL="342900" indent="-342900">
              <a:lnSpc>
                <a:spcPct val="150000"/>
              </a:lnSpc>
              <a:buFont typeface="+mj-lt"/>
              <a:buAutoNum type="arabicPeriod"/>
            </a:pPr>
            <a:r>
              <a:rPr lang="en-US" sz="1000" dirty="0">
                <a:effectLst/>
                <a:latin typeface="+mj-lt"/>
                <a:ea typeface="Calibri" panose="020F0502020204030204" pitchFamily="34" charset="0"/>
                <a:cs typeface="Times New Roman" panose="02020603050405020304" pitchFamily="18" charset="0"/>
              </a:rPr>
              <a:t>Text Analysis of the open-text responses:</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Summarize key topics and sentiments.</a:t>
            </a:r>
          </a:p>
          <a:p>
            <a:pPr marL="800100" lvl="1" indent="-342900">
              <a:lnSpc>
                <a:spcPct val="150000"/>
              </a:lnSpc>
              <a:buFont typeface="+mj-lt"/>
              <a:buAutoNum type="alphaLcPeriod"/>
            </a:pPr>
            <a:r>
              <a:rPr lang="en-US" sz="1000" dirty="0">
                <a:effectLst/>
                <a:latin typeface="+mj-lt"/>
                <a:ea typeface="Calibri" panose="020F0502020204030204" pitchFamily="34" charset="0"/>
                <a:cs typeface="Times New Roman" panose="02020603050405020304" pitchFamily="18" charset="0"/>
              </a:rPr>
              <a:t>Identify patterns or anomalies in comparison with the structured data.</a:t>
            </a:r>
            <a:endParaRPr lang="en-US" sz="1000" dirty="0">
              <a:latin typeface="+mj-lt"/>
              <a:ea typeface="Calibri" panose="020F0502020204030204" pitchFamily="34" charset="0"/>
              <a:cs typeface="Times New Roman" panose="02020603050405020304" pitchFamily="18" charset="0"/>
            </a:endParaRPr>
          </a:p>
          <a:p>
            <a:pPr>
              <a:lnSpc>
                <a:spcPct val="150000"/>
              </a:lnSpc>
              <a:spcAft>
                <a:spcPts val="800"/>
              </a:spcAft>
            </a:pPr>
            <a:br>
              <a:rPr lang="en-US" sz="1000" dirty="0">
                <a:latin typeface="+mj-lt"/>
                <a:ea typeface="Calibri" panose="020F0502020204030204" pitchFamily="34" charset="0"/>
                <a:cs typeface="Times New Roman" panose="02020603050405020304" pitchFamily="18" charset="0"/>
              </a:rPr>
            </a:br>
            <a:r>
              <a:rPr lang="en-US" sz="1000" dirty="0">
                <a:latin typeface="+mj-lt"/>
                <a:ea typeface="Calibri" panose="020F0502020204030204" pitchFamily="34" charset="0"/>
                <a:cs typeface="Times New Roman" panose="02020603050405020304" pitchFamily="18" charset="0"/>
              </a:rPr>
              <a:t>We recommend that you spend 4-6 hours on this case</a:t>
            </a:r>
          </a:p>
        </p:txBody>
      </p:sp>
      <p:sp>
        <p:nvSpPr>
          <p:cNvPr id="8" name="Rectangle 7">
            <a:extLst>
              <a:ext uri="{FF2B5EF4-FFF2-40B4-BE49-F238E27FC236}">
                <a16:creationId xmlns:a16="http://schemas.microsoft.com/office/drawing/2014/main" id="{701E2D76-1141-5BA6-75A4-6727D13F5D44}"/>
              </a:ext>
            </a:extLst>
          </p:cNvPr>
          <p:cNvSpPr/>
          <p:nvPr/>
        </p:nvSpPr>
        <p:spPr>
          <a:xfrm>
            <a:off x="7699879" y="0"/>
            <a:ext cx="449212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272E46F-ABDB-7A50-22B8-9CADC698B024}"/>
              </a:ext>
            </a:extLst>
          </p:cNvPr>
          <p:cNvSpPr txBox="1"/>
          <p:nvPr/>
        </p:nvSpPr>
        <p:spPr>
          <a:xfrm>
            <a:off x="7873693" y="1394523"/>
            <a:ext cx="4144492" cy="4700005"/>
          </a:xfrm>
          <a:prstGeom prst="rect">
            <a:avLst/>
          </a:prstGeom>
          <a:noFill/>
        </p:spPr>
        <p:txBody>
          <a:bodyPr wrap="square" lIns="91440" tIns="45720" rIns="91440" bIns="45720" anchor="t">
            <a:spAutoFit/>
          </a:bodyPr>
          <a:lstStyle/>
          <a:p>
            <a:pPr>
              <a:lnSpc>
                <a:spcPct val="150000"/>
              </a:lnSpc>
              <a:spcAft>
                <a:spcPts val="800"/>
              </a:spcAft>
            </a:pPr>
            <a:r>
              <a:rPr lang="nl-NL" b="1" dirty="0">
                <a:solidFill>
                  <a:srgbClr val="FEFDFA"/>
                </a:solidFill>
                <a:effectLst/>
                <a:latin typeface="+mj-lt"/>
                <a:ea typeface="Calibri" panose="020F0502020204030204" pitchFamily="34" charset="0"/>
                <a:cs typeface="Times New Roman" panose="02020603050405020304" pitchFamily="18" charset="0"/>
              </a:rPr>
              <a:t>Discussion questions:</a:t>
            </a:r>
            <a:endParaRPr lang="en-US" b="1" dirty="0">
              <a:solidFill>
                <a:srgbClr val="FEFDFA"/>
              </a:solidFill>
              <a:effectLst/>
              <a:latin typeface="+mj-lt"/>
              <a:ea typeface="Calibri" panose="020F0502020204030204" pitchFamily="34" charset="0"/>
              <a:cs typeface="Times New Roman" panose="02020603050405020304" pitchFamily="18" charset="0"/>
            </a:endParaRPr>
          </a:p>
          <a:p>
            <a:pPr lvl="0">
              <a:lnSpc>
                <a:spcPct val="150000"/>
              </a:lnSpc>
            </a:pPr>
            <a:r>
              <a:rPr lang="en-US" sz="1050" i="1" dirty="0">
                <a:latin typeface="+mj-lt"/>
                <a:ea typeface="Calibri" panose="020F0502020204030204" pitchFamily="34" charset="0"/>
                <a:cs typeface="Times New Roman" panose="02020603050405020304" pitchFamily="18" charset="0"/>
              </a:rPr>
              <a:t>Solutions are not needed in your notebook; we will cover these during the interview.</a:t>
            </a:r>
            <a:endParaRPr lang="en-US" sz="1050" i="1" dirty="0">
              <a:effectLst/>
              <a:latin typeface="+mj-lt"/>
              <a:ea typeface="Calibri" panose="020F0502020204030204" pitchFamily="34" charset="0"/>
              <a:cs typeface="Times New Roman" panose="02020603050405020304" pitchFamily="18" charset="0"/>
            </a:endParaRPr>
          </a:p>
          <a:p>
            <a:pPr lvl="0">
              <a:lnSpc>
                <a:spcPct val="150000"/>
              </a:lnSpc>
            </a:pPr>
            <a:endParaRPr lang="en-US" sz="1050" dirty="0">
              <a:effectLst/>
              <a:latin typeface="+mj-lt"/>
              <a:ea typeface="Calibri" panose="020F0502020204030204" pitchFamily="34" charset="0"/>
              <a:cs typeface="Times New Roman" panose="02020603050405020304" pitchFamily="18" charset="0"/>
            </a:endParaRP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Next Survey Recommendations</a:t>
            </a:r>
            <a:br>
              <a:rPr lang="en-US" sz="1050" dirty="0">
                <a:effectLst/>
                <a:latin typeface="+mj-lt"/>
                <a:ea typeface="Calibri" panose="020F0502020204030204" pitchFamily="34" charset="0"/>
                <a:cs typeface="Times New Roman" panose="02020603050405020304" pitchFamily="18" charset="0"/>
              </a:rPr>
            </a:br>
            <a:r>
              <a:rPr lang="en-US" sz="1050" dirty="0">
                <a:effectLst/>
                <a:latin typeface="+mj-lt"/>
                <a:ea typeface="Calibri" panose="020F0502020204030204" pitchFamily="34" charset="0"/>
                <a:cs typeface="Times New Roman" panose="02020603050405020304" pitchFamily="18" charset="0"/>
              </a:rPr>
              <a:t>Based on areas for improvement, what recommendations would you give for a deeper dive in the next survey?</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Scalable Solutions</a:t>
            </a:r>
            <a:br>
              <a:rPr lang="en-US" sz="1050" dirty="0">
                <a:effectLst/>
                <a:latin typeface="+mj-lt"/>
                <a:ea typeface="Calibri" panose="020F0502020204030204" pitchFamily="34" charset="0"/>
                <a:cs typeface="Times New Roman" panose="02020603050405020304" pitchFamily="18" charset="0"/>
              </a:rPr>
            </a:br>
            <a:r>
              <a:rPr lang="en-US" sz="1050" dirty="0">
                <a:effectLst/>
                <a:latin typeface="+mj-lt"/>
                <a:ea typeface="Calibri" panose="020F0502020204030204" pitchFamily="34" charset="0"/>
                <a:cs typeface="Times New Roman" panose="02020603050405020304" pitchFamily="18" charset="0"/>
              </a:rPr>
              <a:t>Effectory receives similar requests frequently. How would you design a scalable solution to deliver these advanced features across all clients?</a:t>
            </a:r>
          </a:p>
          <a:p>
            <a:pPr marL="342900" lvl="0" indent="-342900">
              <a:lnSpc>
                <a:spcPct val="150000"/>
              </a:lnSpc>
              <a:buFont typeface="+mj-lt"/>
              <a:buAutoNum type="arabicPeriod"/>
            </a:pPr>
            <a:r>
              <a:rPr lang="en-US" sz="1050" dirty="0">
                <a:effectLst/>
                <a:latin typeface="+mj-lt"/>
                <a:ea typeface="Calibri" panose="020F0502020204030204" pitchFamily="34" charset="0"/>
                <a:cs typeface="Times New Roman" panose="02020603050405020304" pitchFamily="18" charset="0"/>
              </a:rPr>
              <a:t>Advanced AI Integration</a:t>
            </a:r>
            <a:br>
              <a:rPr lang="en-US" sz="1050" dirty="0">
                <a:effectLst/>
                <a:latin typeface="+mj-lt"/>
                <a:ea typeface="Calibri" panose="020F0502020204030204" pitchFamily="34" charset="0"/>
                <a:cs typeface="Times New Roman" panose="02020603050405020304" pitchFamily="18" charset="0"/>
              </a:rPr>
            </a:br>
            <a:r>
              <a:rPr lang="en-US" sz="1050" dirty="0">
                <a:effectLst/>
                <a:latin typeface="+mj-lt"/>
                <a:ea typeface="Calibri" panose="020F0502020204030204" pitchFamily="34" charset="0"/>
                <a:cs typeface="Times New Roman" panose="02020603050405020304" pitchFamily="18" charset="0"/>
              </a:rPr>
              <a:t>How would you use LLMs or other AI techniques to generate actionable recommendations, combine structured and unstructured data, and deliver insights that go beyond what a generic ChatGPT analysis could provide?</a:t>
            </a:r>
          </a:p>
        </p:txBody>
      </p:sp>
    </p:spTree>
    <p:extLst>
      <p:ext uri="{BB962C8B-B14F-4D97-AF65-F5344CB8AC3E}">
        <p14:creationId xmlns:p14="http://schemas.microsoft.com/office/powerpoint/2010/main" val="328928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9235922"/>
      </p:ext>
    </p:extLst>
  </p:cSld>
  <p:clrMapOvr>
    <a:masterClrMapping/>
  </p:clrMapOvr>
</p:sld>
</file>

<file path=ppt/theme/theme1.xml><?xml version="1.0" encoding="utf-8"?>
<a:theme xmlns:a="http://schemas.openxmlformats.org/drawingml/2006/main" name="Office Theme">
  <a:themeElements>
    <a:clrScheme name="Effectory">
      <a:dk1>
        <a:srgbClr val="192743"/>
      </a:dk1>
      <a:lt1>
        <a:srgbClr val="FFFFFF"/>
      </a:lt1>
      <a:dk2>
        <a:srgbClr val="30B3AF"/>
      </a:dk2>
      <a:lt2>
        <a:srgbClr val="FFCF2E"/>
      </a:lt2>
      <a:accent1>
        <a:srgbClr val="EDEDED"/>
      </a:accent1>
      <a:accent2>
        <a:srgbClr val="B3DCD8"/>
      </a:accent2>
      <a:accent3>
        <a:srgbClr val="30B3AF"/>
      </a:accent3>
      <a:accent4>
        <a:srgbClr val="065D66"/>
      </a:accent4>
      <a:accent5>
        <a:srgbClr val="192743"/>
      </a:accent5>
      <a:accent6>
        <a:srgbClr val="FFFFFF"/>
      </a:accent6>
      <a:hlink>
        <a:srgbClr val="192743"/>
      </a:hlink>
      <a:folHlink>
        <a:srgbClr val="192743"/>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ffectory_master (16x9) 2018_4.potx" id="{4859FC2D-993E-4832-B9B8-E54BB18CB578}" vid="{55F00C75-B073-43E4-BA68-5BEC15BC8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1edf75c-d75d-4b03-809c-e03782485d8f">
      <Terms xmlns="http://schemas.microsoft.com/office/infopath/2007/PartnerControls"/>
    </lcf76f155ced4ddcb4097134ff3c332f>
    <TaxCatchAll xmlns="4288ad3f-a146-471b-a9ac-b245f9eebc3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E20A90A24610848AEEAE2F8CD47FA91" ma:contentTypeVersion="19" ma:contentTypeDescription="Een nieuw document maken." ma:contentTypeScope="" ma:versionID="147309765e6e15e928bcf2c9a9add6d5">
  <xsd:schema xmlns:xsd="http://www.w3.org/2001/XMLSchema" xmlns:xs="http://www.w3.org/2001/XMLSchema" xmlns:p="http://schemas.microsoft.com/office/2006/metadata/properties" xmlns:ns1="http://schemas.microsoft.com/sharepoint/v3" xmlns:ns2="4288ad3f-a146-471b-a9ac-b245f9eebc3a" xmlns:ns3="01edf75c-d75d-4b03-809c-e03782485d8f" targetNamespace="http://schemas.microsoft.com/office/2006/metadata/properties" ma:root="true" ma:fieldsID="6e8fbd19cdddabbef419068e04ae5138" ns1:_="" ns2:_="" ns3:_="">
    <xsd:import namespace="http://schemas.microsoft.com/sharepoint/v3"/>
    <xsd:import namespace="4288ad3f-a146-471b-a9ac-b245f9eebc3a"/>
    <xsd:import namespace="01edf75c-d75d-4b03-809c-e03782485d8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1:_ip_UnifiedCompliancePolicyProperties" minOccurs="0"/>
                <xsd:element ref="ns1:_ip_UnifiedCompliancePolicyUIAction" minOccurs="0"/>
                <xsd:element ref="ns3:MediaLengthInSeconds" minOccurs="0"/>
                <xsd:element ref="ns3:lcf76f155ced4ddcb4097134ff3c332f" minOccurs="0"/>
                <xsd:element ref="ns2:TaxCatchAll"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Eigenschappen van het geïntegreerd beleid voor naleving" ma:hidden="true" ma:internalName="_ip_UnifiedCompliancePolicyProperties">
      <xsd:simpleType>
        <xsd:restriction base="dms:Note"/>
      </xsd:simpleType>
    </xsd:element>
    <xsd:element name="_ip_UnifiedCompliancePolicyUIAction" ma:index="20"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88ad3f-a146-471b-a9ac-b245f9eebc3a"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element name="TaxCatchAll" ma:index="24" nillable="true" ma:displayName="Taxonomy Catch All Column" ma:hidden="true" ma:list="{5f4ee5ff-16f6-453d-891a-140407ad03b8}" ma:internalName="TaxCatchAll" ma:showField="CatchAllData" ma:web="4288ad3f-a146-471b-a9ac-b245f9eebc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1edf75c-d75d-4b03-809c-e03782485d8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acf43a73-d76f-4744-802e-d553ba3614a8"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internalName="MediaServiceLocatio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24892C-DE71-4591-BA90-D81858F9526C}">
  <ds:schemaRefs>
    <ds:schemaRef ds:uri="http://schemas.microsoft.com/sharepoint/v3/contenttype/forms"/>
  </ds:schemaRefs>
</ds:datastoreItem>
</file>

<file path=customXml/itemProps2.xml><?xml version="1.0" encoding="utf-8"?>
<ds:datastoreItem xmlns:ds="http://schemas.openxmlformats.org/officeDocument/2006/customXml" ds:itemID="{49D510B8-9C8F-4587-97D1-0D231C65BF0A}">
  <ds:schemaRefs>
    <ds:schemaRef ds:uri="3f2d3da5-b56a-475f-9352-0ef62559252e"/>
    <ds:schemaRef ds:uri="a5518822-07d6-4741-b9a6-88e6aef166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01edf75c-d75d-4b03-809c-e03782485d8f"/>
    <ds:schemaRef ds:uri="4288ad3f-a146-471b-a9ac-b245f9eebc3a"/>
  </ds:schemaRefs>
</ds:datastoreItem>
</file>

<file path=customXml/itemProps3.xml><?xml version="1.0" encoding="utf-8"?>
<ds:datastoreItem xmlns:ds="http://schemas.openxmlformats.org/officeDocument/2006/customXml" ds:itemID="{D0EA6AF3-4774-4D63-9A92-60765AD552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88ad3f-a146-471b-a9ac-b245f9eebc3a"/>
    <ds:schemaRef ds:uri="01edf75c-d75d-4b03-809c-e03782485d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460a816-67c7-40fa-b867-381aebecaa74}" enabled="1" method="Privileged" siteId="{e9792fd7-4044-47e7-a40d-3fba46f1cd09}" removed="0"/>
</clbl:labelList>
</file>

<file path=docProps/app.xml><?xml version="1.0" encoding="utf-8"?>
<Properties xmlns="http://schemas.openxmlformats.org/officeDocument/2006/extended-properties" xmlns:vt="http://schemas.openxmlformats.org/officeDocument/2006/docPropsVTypes">
  <Template>blank</Template>
  <TotalTime>0</TotalTime>
  <Words>613</Words>
  <Application>Microsoft Office PowerPoint</Application>
  <PresentationFormat>Widescreen</PresentationFormat>
  <Paragraphs>58</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Century Gothic</vt:lpstr>
      <vt:lpstr>Open Sans Semibold</vt:lpstr>
      <vt:lpstr>Source Sans Pro</vt:lpstr>
      <vt:lpstr>Titillium</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Merel van der Lei  Effectory</dc:creator>
  <cp:lastModifiedBy>Matt Crompton  Effectory</cp:lastModifiedBy>
  <cp:revision>6</cp:revision>
  <cp:lastPrinted>2020-05-12T07:04:08Z</cp:lastPrinted>
  <dcterms:created xsi:type="dcterms:W3CDTF">2018-11-16T13:09:46Z</dcterms:created>
  <dcterms:modified xsi:type="dcterms:W3CDTF">2025-11-19T10:07:59Z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0x0101001E20A90A24610848AEEAE2F8CD47FA91</vt:lpwstr>
  </property>
  <property fmtid="{D5CDD505-2E9C-101B-9397-08002B2CF9AE}" pid="3" name="Order">
    <vt:r8>100</vt:r8>
  </property>
  <property fmtid="{D5CDD505-2E9C-101B-9397-08002B2CF9AE}" pid="4" name="MSIP_Label_b460a816-67c7-40fa-b867-381aebecaa74_Enabled">
    <vt:lpwstr>true</vt:lpwstr>
  </property>
  <property fmtid="{D5CDD505-2E9C-101B-9397-08002B2CF9AE}" pid="5" name="MSIP_Label_b460a816-67c7-40fa-b867-381aebecaa74_SetDate">
    <vt:lpwstr>2021-10-29T16:13:23Z</vt:lpwstr>
  </property>
  <property fmtid="{D5CDD505-2E9C-101B-9397-08002B2CF9AE}" pid="6" name="MSIP_Label_b460a816-67c7-40fa-b867-381aebecaa74_Method">
    <vt:lpwstr>Privileged</vt:lpwstr>
  </property>
  <property fmtid="{D5CDD505-2E9C-101B-9397-08002B2CF9AE}" pid="7" name="MSIP_Label_b460a816-67c7-40fa-b867-381aebecaa74_Name">
    <vt:lpwstr>Effectory</vt:lpwstr>
  </property>
  <property fmtid="{D5CDD505-2E9C-101B-9397-08002B2CF9AE}" pid="8" name="MSIP_Label_b460a816-67c7-40fa-b867-381aebecaa74_SiteId">
    <vt:lpwstr>e9792fd7-4044-47e7-a40d-3fba46f1cd09</vt:lpwstr>
  </property>
  <property fmtid="{D5CDD505-2E9C-101B-9397-08002B2CF9AE}" pid="9" name="MSIP_Label_b460a816-67c7-40fa-b867-381aebecaa74_ActionId">
    <vt:lpwstr>373f8d22-f731-4a30-bd18-14eb6cf88d8f</vt:lpwstr>
  </property>
  <property fmtid="{D5CDD505-2E9C-101B-9397-08002B2CF9AE}" pid="10" name="MSIP_Label_b460a816-67c7-40fa-b867-381aebecaa74_ContentBits">
    <vt:lpwstr>0</vt:lpwstr>
  </property>
  <property fmtid="{D5CDD505-2E9C-101B-9397-08002B2CF9AE}" pid="11" name="MediaServiceImageTags">
    <vt:lpwstr/>
  </property>
</Properties>
</file>